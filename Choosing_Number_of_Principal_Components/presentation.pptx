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1" r:id="rId6"/>
    <p:sldId id="261" r:id="rId7"/>
    <p:sldId id="262" r:id="rId8"/>
    <p:sldId id="260" r:id="rId9"/>
    <p:sldId id="263" r:id="rId10"/>
    <p:sldId id="268" r:id="rId11"/>
    <p:sldId id="264" r:id="rId12"/>
    <p:sldId id="277" r:id="rId13"/>
    <p:sldId id="272" r:id="rId14"/>
    <p:sldId id="265" r:id="rId15"/>
    <p:sldId id="281" r:id="rId16"/>
    <p:sldId id="279" r:id="rId17"/>
    <p:sldId id="280" r:id="rId18"/>
    <p:sldId id="266" r:id="rId19"/>
    <p:sldId id="269" r:id="rId20"/>
    <p:sldId id="270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5E00"/>
    <a:srgbClr val="007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EFE198-ED00-453E-BF03-45A5CDC4EC82}" v="302" dt="2026-09-15T10:12:15.380"/>
    <p1510:client id="{8CDD420C-C9B6-3869-8075-D2F6F1828AC1}" v="7" dt="2026-09-14T11:16:17.690"/>
    <p1510:client id="{992FF096-0354-31CC-5C2D-6EBE2E6D1823}" v="8" dt="2026-09-14T10:45:47.853"/>
    <p1510:client id="{DDBF3444-C3C3-429A-920C-4DC71F7705BF}" v="1" dt="2026-09-15T06:06:20.128"/>
    <p1510:client id="{FF94FDDC-DDA7-DBDC-3DE4-34862102566F}" v="38" dt="2026-09-15T07:59:15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8FD4C2F-0F7B-44F0-AD6C-1A5239D6740B}" type="datetimeFigureOut">
              <a:rPr lang="fa-IR" smtClean="0"/>
              <a:t>08/04/1448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9DDDAB9D-5D48-49E6-99F2-28D06BF3FC9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70841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The «</a:t>
            </a:r>
            <a:r>
              <a:rPr lang="nb-NO" err="1"/>
              <a:t>algorithm</a:t>
            </a:r>
            <a:r>
              <a:rPr lang="nb-NO"/>
              <a:t>» for </a:t>
            </a:r>
            <a:r>
              <a:rPr lang="nb-NO" err="1"/>
              <a:t>doing</a:t>
            </a:r>
            <a:r>
              <a:rPr lang="nb-NO"/>
              <a:t> PCA </a:t>
            </a:r>
            <a:r>
              <a:rPr lang="nb-NO" err="1"/>
              <a:t>does</a:t>
            </a:r>
            <a:r>
              <a:rPr lang="nb-NO"/>
              <a:t> not </a:t>
            </a:r>
            <a:r>
              <a:rPr lang="nb-NO" err="1"/>
              <a:t>include</a:t>
            </a:r>
            <a:r>
              <a:rPr lang="nb-NO"/>
              <a:t> an optimal </a:t>
            </a:r>
            <a:r>
              <a:rPr lang="nb-NO" err="1"/>
              <a:t>cut-off</a:t>
            </a:r>
            <a:r>
              <a:rPr lang="nb-NO"/>
              <a:t> </a:t>
            </a:r>
            <a:r>
              <a:rPr lang="nb-NO" err="1"/>
              <a:t>point</a:t>
            </a:r>
            <a:r>
              <a:rPr lang="nb-NO"/>
              <a:t> for </a:t>
            </a:r>
            <a:r>
              <a:rPr lang="nb-NO" err="1"/>
              <a:t>your</a:t>
            </a:r>
            <a:r>
              <a:rPr lang="nb-NO"/>
              <a:t> </a:t>
            </a:r>
            <a:r>
              <a:rPr lang="nb-NO" err="1"/>
              <a:t>principal</a:t>
            </a:r>
            <a:r>
              <a:rPr lang="nb-NO"/>
              <a:t> </a:t>
            </a:r>
            <a:r>
              <a:rPr lang="nb-NO" err="1"/>
              <a:t>components</a:t>
            </a:r>
            <a:r>
              <a:rPr lang="nb-NO"/>
              <a:t>, </a:t>
            </a:r>
            <a:r>
              <a:rPr lang="nb-NO" err="1"/>
              <a:t>that</a:t>
            </a:r>
            <a:r>
              <a:rPr lang="nb-NO"/>
              <a:t> is a </a:t>
            </a:r>
            <a:r>
              <a:rPr lang="nb-NO" err="1"/>
              <a:t>choice</a:t>
            </a:r>
            <a:r>
              <a:rPr lang="nb-NO"/>
              <a:t> </a:t>
            </a:r>
            <a:r>
              <a:rPr lang="nb-NO" err="1"/>
              <a:t>that</a:t>
            </a:r>
            <a:r>
              <a:rPr lang="nb-NO"/>
              <a:t> </a:t>
            </a:r>
            <a:r>
              <a:rPr lang="nb-NO" err="1"/>
              <a:t>needs</a:t>
            </a:r>
            <a:r>
              <a:rPr lang="nb-NO"/>
              <a:t> to be </a:t>
            </a:r>
            <a:r>
              <a:rPr lang="nb-NO" err="1"/>
              <a:t>made</a:t>
            </a:r>
            <a:r>
              <a:rPr lang="nb-NO"/>
              <a:t> </a:t>
            </a:r>
            <a:r>
              <a:rPr lang="nb-NO" err="1"/>
              <a:t>on</a:t>
            </a:r>
            <a:r>
              <a:rPr lang="nb-NO"/>
              <a:t> </a:t>
            </a:r>
            <a:r>
              <a:rPr lang="nb-NO" err="1"/>
              <a:t>some</a:t>
            </a:r>
            <a:r>
              <a:rPr lang="nb-NO"/>
              <a:t> </a:t>
            </a:r>
            <a:r>
              <a:rPr lang="nb-NO" err="1"/>
              <a:t>grounds</a:t>
            </a:r>
            <a:r>
              <a:rPr lang="nb-NO"/>
              <a:t>, </a:t>
            </a:r>
            <a:r>
              <a:rPr lang="nb-NO" err="1"/>
              <a:t>preferably</a:t>
            </a:r>
            <a:r>
              <a:rPr lang="nb-NO"/>
              <a:t> </a:t>
            </a:r>
            <a:r>
              <a:rPr lang="nb-NO" err="1"/>
              <a:t>based</a:t>
            </a:r>
            <a:r>
              <a:rPr lang="nb-NO"/>
              <a:t> </a:t>
            </a:r>
            <a:r>
              <a:rPr lang="nb-NO" err="1"/>
              <a:t>on</a:t>
            </a:r>
            <a:r>
              <a:rPr lang="nb-NO"/>
              <a:t> </a:t>
            </a:r>
            <a:r>
              <a:rPr lang="nb-NO" err="1"/>
              <a:t>needs</a:t>
            </a:r>
            <a:r>
              <a:rPr lang="nb-NO"/>
              <a:t> or </a:t>
            </a:r>
            <a:r>
              <a:rPr lang="nb-NO" err="1"/>
              <a:t>criterias</a:t>
            </a:r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DAB9D-5D48-49E6-99F2-28D06BF3FC9F}" type="slidenum">
              <a:rPr lang="fa-IR" smtClean="0"/>
              <a:t>1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93814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As </a:t>
            </a:r>
            <a:r>
              <a:rPr lang="nb-NO" err="1"/>
              <a:t>discussed</a:t>
            </a:r>
            <a:r>
              <a:rPr lang="nb-NO"/>
              <a:t> in </a:t>
            </a:r>
            <a:r>
              <a:rPr lang="nb-NO" err="1"/>
              <a:t>yesterdays</a:t>
            </a:r>
            <a:r>
              <a:rPr lang="nb-NO"/>
              <a:t> </a:t>
            </a:r>
            <a:r>
              <a:rPr lang="nb-NO" err="1"/>
              <a:t>lecture</a:t>
            </a:r>
            <a:r>
              <a:rPr lang="nb-NO"/>
              <a:t>, </a:t>
            </a:r>
            <a:r>
              <a:rPr lang="nb-NO" err="1"/>
              <a:t>the</a:t>
            </a:r>
            <a:r>
              <a:rPr lang="nb-NO"/>
              <a:t> PCs </a:t>
            </a:r>
            <a:r>
              <a:rPr lang="nb-NO" err="1"/>
              <a:t>with</a:t>
            </a:r>
            <a:r>
              <a:rPr lang="nb-NO"/>
              <a:t> </a:t>
            </a:r>
            <a:r>
              <a:rPr lang="nb-NO" err="1"/>
              <a:t>the</a:t>
            </a:r>
            <a:r>
              <a:rPr lang="nb-NO"/>
              <a:t> </a:t>
            </a:r>
            <a:r>
              <a:rPr lang="nb-NO" err="1"/>
              <a:t>largest</a:t>
            </a:r>
            <a:r>
              <a:rPr lang="nb-NO"/>
              <a:t> </a:t>
            </a:r>
            <a:r>
              <a:rPr lang="nb-NO" err="1"/>
              <a:t>Evs</a:t>
            </a:r>
            <a:r>
              <a:rPr lang="nb-NO"/>
              <a:t> </a:t>
            </a:r>
            <a:r>
              <a:rPr lang="nb-NO" err="1"/>
              <a:t>are</a:t>
            </a:r>
            <a:r>
              <a:rPr lang="nb-NO"/>
              <a:t> not </a:t>
            </a:r>
            <a:r>
              <a:rPr lang="nb-NO" err="1"/>
              <a:t>necessarily</a:t>
            </a:r>
            <a:r>
              <a:rPr lang="nb-NO"/>
              <a:t> </a:t>
            </a:r>
            <a:r>
              <a:rPr lang="nb-NO" err="1"/>
              <a:t>carrying</a:t>
            </a:r>
            <a:r>
              <a:rPr lang="nb-NO"/>
              <a:t> </a:t>
            </a:r>
            <a:r>
              <a:rPr lang="nb-NO" err="1"/>
              <a:t>the</a:t>
            </a:r>
            <a:r>
              <a:rPr lang="nb-NO"/>
              <a:t> signal for </a:t>
            </a:r>
            <a:r>
              <a:rPr lang="nb-NO" err="1"/>
              <a:t>your</a:t>
            </a:r>
            <a:r>
              <a:rPr lang="nb-NO"/>
              <a:t> output</a:t>
            </a:r>
          </a:p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DAB9D-5D48-49E6-99F2-28D06BF3FC9F}" type="slidenum">
              <a:rPr lang="fa-IR" smtClean="0"/>
              <a:t>2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26224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If </a:t>
            </a:r>
            <a:r>
              <a:rPr lang="nb-NO" err="1"/>
              <a:t>your</a:t>
            </a:r>
            <a:r>
              <a:rPr lang="nb-NO"/>
              <a:t> goal is to </a:t>
            </a:r>
            <a:r>
              <a:rPr lang="nb-NO" err="1"/>
              <a:t>reduce</a:t>
            </a:r>
            <a:r>
              <a:rPr lang="nb-NO"/>
              <a:t> </a:t>
            </a:r>
            <a:r>
              <a:rPr lang="nb-NO" err="1"/>
              <a:t>noise</a:t>
            </a:r>
            <a:r>
              <a:rPr lang="nb-NO"/>
              <a:t>, </a:t>
            </a:r>
            <a:r>
              <a:rPr lang="nb-NO" err="1"/>
              <a:t>get</a:t>
            </a:r>
            <a:r>
              <a:rPr lang="nb-NO"/>
              <a:t> </a:t>
            </a:r>
            <a:r>
              <a:rPr lang="nb-NO" err="1"/>
              <a:t>your</a:t>
            </a:r>
            <a:r>
              <a:rPr lang="nb-NO"/>
              <a:t> image to 2D or </a:t>
            </a:r>
            <a:r>
              <a:rPr lang="nb-NO" err="1"/>
              <a:t>find</a:t>
            </a:r>
            <a:r>
              <a:rPr lang="nb-NO"/>
              <a:t> an optimal </a:t>
            </a:r>
            <a:r>
              <a:rPr lang="nb-NO" err="1"/>
              <a:t>dimmensionality</a:t>
            </a:r>
            <a:r>
              <a:rPr lang="nb-NO"/>
              <a:t> </a:t>
            </a:r>
            <a:r>
              <a:rPr lang="nb-NO" err="1"/>
              <a:t>recduction</a:t>
            </a:r>
            <a:r>
              <a:rPr lang="nb-NO"/>
              <a:t> </a:t>
            </a:r>
            <a:r>
              <a:rPr lang="nb-NO" err="1"/>
              <a:t>while</a:t>
            </a:r>
            <a:r>
              <a:rPr lang="nb-NO"/>
              <a:t> still </a:t>
            </a:r>
            <a:r>
              <a:rPr lang="nb-NO" err="1"/>
              <a:t>retaining</a:t>
            </a:r>
            <a:r>
              <a:rPr lang="nb-NO"/>
              <a:t> all </a:t>
            </a:r>
            <a:r>
              <a:rPr lang="nb-NO" err="1"/>
              <a:t>significant</a:t>
            </a:r>
            <a:r>
              <a:rPr lang="nb-NO"/>
              <a:t> </a:t>
            </a:r>
            <a:r>
              <a:rPr lang="nb-NO" err="1"/>
              <a:t>information</a:t>
            </a:r>
            <a:r>
              <a:rPr lang="nb-NO"/>
              <a:t> in </a:t>
            </a:r>
            <a:r>
              <a:rPr lang="nb-NO" err="1"/>
              <a:t>your</a:t>
            </a:r>
            <a:r>
              <a:rPr lang="nb-NO"/>
              <a:t> </a:t>
            </a:r>
            <a:r>
              <a:rPr lang="nb-NO" err="1"/>
              <a:t>model</a:t>
            </a:r>
            <a:r>
              <a:rPr lang="nb-NO"/>
              <a:t> </a:t>
            </a:r>
            <a:r>
              <a:rPr lang="nb-NO" err="1"/>
              <a:t>you</a:t>
            </a:r>
            <a:r>
              <a:rPr lang="nb-NO"/>
              <a:t> </a:t>
            </a:r>
            <a:r>
              <a:rPr lang="nb-NO" err="1"/>
              <a:t>will</a:t>
            </a:r>
            <a:r>
              <a:rPr lang="nb-NO"/>
              <a:t> </a:t>
            </a:r>
            <a:r>
              <a:rPr lang="nb-NO" err="1"/>
              <a:t>probably</a:t>
            </a:r>
            <a:r>
              <a:rPr lang="nb-NO"/>
              <a:t> end up </a:t>
            </a:r>
            <a:r>
              <a:rPr lang="nb-NO" err="1"/>
              <a:t>cutting</a:t>
            </a:r>
            <a:r>
              <a:rPr lang="nb-NO"/>
              <a:t> </a:t>
            </a:r>
            <a:r>
              <a:rPr lang="nb-NO" err="1"/>
              <a:t>remainding</a:t>
            </a:r>
            <a:r>
              <a:rPr lang="nb-NO"/>
              <a:t> PCs at different </a:t>
            </a:r>
            <a:r>
              <a:rPr lang="nb-NO" err="1"/>
              <a:t>points</a:t>
            </a:r>
            <a:r>
              <a:rPr lang="nb-NO"/>
              <a:t>.</a:t>
            </a:r>
          </a:p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DAB9D-5D48-49E6-99F2-28D06BF3FC9F}" type="slidenum">
              <a:rPr lang="fa-IR" smtClean="0"/>
              <a:t>3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62670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err="1"/>
              <a:t>There</a:t>
            </a:r>
            <a:r>
              <a:rPr lang="nb-NO"/>
              <a:t> is </a:t>
            </a:r>
            <a:r>
              <a:rPr lang="nb-NO" err="1"/>
              <a:t>no</a:t>
            </a:r>
            <a:r>
              <a:rPr lang="nb-NO"/>
              <a:t> general </a:t>
            </a:r>
            <a:r>
              <a:rPr lang="nb-NO" err="1"/>
              <a:t>rule</a:t>
            </a:r>
            <a:r>
              <a:rPr lang="nb-NO"/>
              <a:t> for </a:t>
            </a:r>
            <a:r>
              <a:rPr lang="nb-NO" err="1"/>
              <a:t>which</a:t>
            </a:r>
            <a:r>
              <a:rPr lang="nb-NO"/>
              <a:t> PCs </a:t>
            </a:r>
            <a:r>
              <a:rPr lang="nb-NO" err="1"/>
              <a:t>contain</a:t>
            </a:r>
            <a:r>
              <a:rPr lang="nb-NO"/>
              <a:t> </a:t>
            </a:r>
            <a:r>
              <a:rPr lang="nb-NO" err="1"/>
              <a:t>the</a:t>
            </a:r>
            <a:r>
              <a:rPr lang="nb-NO"/>
              <a:t> most </a:t>
            </a:r>
            <a:r>
              <a:rPr lang="nb-NO" err="1"/>
              <a:t>predictive</a:t>
            </a:r>
            <a:r>
              <a:rPr lang="nb-NO"/>
              <a:t> signal for </a:t>
            </a:r>
            <a:r>
              <a:rPr lang="nb-NO" err="1"/>
              <a:t>your</a:t>
            </a:r>
            <a:r>
              <a:rPr lang="nb-NO"/>
              <a:t> </a:t>
            </a:r>
            <a:r>
              <a:rPr lang="nb-NO" err="1"/>
              <a:t>outcome</a:t>
            </a:r>
            <a:r>
              <a:rPr lang="nb-NO"/>
              <a:t>. Cross-</a:t>
            </a:r>
            <a:r>
              <a:rPr lang="nb-NO" err="1"/>
              <a:t>validating</a:t>
            </a:r>
            <a:r>
              <a:rPr lang="nb-NO"/>
              <a:t> </a:t>
            </a:r>
            <a:r>
              <a:rPr lang="nb-NO" err="1"/>
              <a:t>the</a:t>
            </a:r>
            <a:r>
              <a:rPr lang="nb-NO"/>
              <a:t> PCA + </a:t>
            </a:r>
            <a:r>
              <a:rPr lang="nb-NO" err="1"/>
              <a:t>model</a:t>
            </a:r>
            <a:r>
              <a:rPr lang="nb-NO"/>
              <a:t> pipeline </a:t>
            </a:r>
            <a:r>
              <a:rPr lang="nb-NO" err="1"/>
              <a:t>can</a:t>
            </a:r>
            <a:r>
              <a:rPr lang="nb-NO"/>
              <a:t> </a:t>
            </a:r>
            <a:r>
              <a:rPr lang="nb-NO" err="1"/>
              <a:t>therefore</a:t>
            </a:r>
            <a:r>
              <a:rPr lang="nb-NO"/>
              <a:t> </a:t>
            </a:r>
            <a:r>
              <a:rPr lang="nb-NO" err="1"/>
              <a:t>help</a:t>
            </a:r>
            <a:r>
              <a:rPr lang="nb-NO"/>
              <a:t> </a:t>
            </a:r>
            <a:r>
              <a:rPr lang="nb-NO" err="1"/>
              <a:t>determine</a:t>
            </a:r>
            <a:r>
              <a:rPr lang="nb-NO"/>
              <a:t> </a:t>
            </a:r>
            <a:r>
              <a:rPr lang="nb-NO" err="1"/>
              <a:t>how</a:t>
            </a:r>
            <a:r>
              <a:rPr lang="nb-NO"/>
              <a:t> </a:t>
            </a:r>
            <a:r>
              <a:rPr lang="nb-NO" err="1"/>
              <a:t>many</a:t>
            </a:r>
            <a:r>
              <a:rPr lang="nb-NO"/>
              <a:t> PCs to </a:t>
            </a:r>
            <a:r>
              <a:rPr lang="nb-NO" err="1"/>
              <a:t>retain</a:t>
            </a:r>
            <a:r>
              <a:rPr lang="nb-NO"/>
              <a:t>, </a:t>
            </a:r>
            <a:r>
              <a:rPr lang="nb-NO" err="1"/>
              <a:t>especially</a:t>
            </a:r>
            <a:r>
              <a:rPr lang="nb-NO"/>
              <a:t> </a:t>
            </a:r>
            <a:r>
              <a:rPr lang="nb-NO" err="1"/>
              <a:t>when</a:t>
            </a:r>
            <a:r>
              <a:rPr lang="nb-NO"/>
              <a:t> PCA is used as </a:t>
            </a:r>
            <a:r>
              <a:rPr lang="nb-NO" err="1"/>
              <a:t>preprocessing</a:t>
            </a:r>
            <a:r>
              <a:rPr lang="nb-NO"/>
              <a:t> for a </a:t>
            </a:r>
            <a:r>
              <a:rPr lang="nb-NO" err="1"/>
              <a:t>predictive</a:t>
            </a:r>
            <a:r>
              <a:rPr lang="nb-NO"/>
              <a:t> </a:t>
            </a:r>
            <a:r>
              <a:rPr lang="nb-NO" err="1"/>
              <a:t>model</a:t>
            </a:r>
            <a:r>
              <a:rPr lang="nb-NO"/>
              <a:t>.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DAB9D-5D48-49E6-99F2-28D06BF3FC9F}" type="slidenum">
              <a:rPr lang="fa-IR" smtClean="0"/>
              <a:t>4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10067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trade-off. This slide gives the audience a reason to care before listing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DAB9D-5D48-49E6-99F2-28D06BF3FC9F}" type="slidenum">
              <a:rPr lang="fa-IR" smtClean="0"/>
              <a:t>7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16118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02281-5EA1-3E9D-E463-57F3E1341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BCCF3-5BD6-D0F8-D921-1DDCBBD22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B8CE3-F627-B96C-0208-62C93AF54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Keep this simple: the formula defines the farthest-distance point; the plot visually shows the same idea.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6F63-6FA3-6F1F-4CAF-7CFC0096C6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05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Keep this simple: the formula defines the farthest-distance point; the plot visually shows the same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884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7444" y="102869"/>
            <a:ext cx="108488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0B1F3A"/>
                </a:solidFill>
                <a:latin typeface="Aptos Display"/>
              </a:rPr>
              <a:t>Choosing the Number
of Principal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A8699"/>
                </a:solidFill>
                <a:latin typeface="Aptos"/>
              </a:rP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9102" y="4207058"/>
            <a:ext cx="3622548" cy="1071062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0">
                <a:latin typeface="Aptos Display"/>
              </a:rPr>
              <a:t>Fatemeh Chitsaz  </a:t>
            </a:r>
            <a:endParaRPr lang="fa-IR" sz="2000" b="0">
              <a:latin typeface="Aptos Display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0" err="1">
                <a:latin typeface="Aptos Display"/>
              </a:rPr>
              <a:t>Mateus</a:t>
            </a:r>
            <a:r>
              <a:rPr sz="2000" b="0">
                <a:latin typeface="Aptos Display"/>
              </a:rPr>
              <a:t> </a:t>
            </a:r>
            <a:r>
              <a:rPr sz="2000" b="0" err="1">
                <a:latin typeface="Aptos Display"/>
              </a:rPr>
              <a:t>Machado</a:t>
            </a:r>
            <a:r>
              <a:rPr sz="2000" b="0">
                <a:latin typeface="Aptos Display"/>
              </a:rPr>
              <a:t> </a:t>
            </a:r>
            <a:r>
              <a:rPr sz="2000" b="0" err="1">
                <a:latin typeface="Aptos Display"/>
              </a:rPr>
              <a:t>Pedrosa</a:t>
            </a:r>
            <a:r>
              <a:rPr lang="en-US" sz="2000">
                <a:latin typeface="Aptos Display"/>
              </a:rPr>
              <a:t> </a:t>
            </a:r>
            <a:r>
              <a:rPr sz="2000" b="0">
                <a:latin typeface="Aptos Display"/>
              </a:rPr>
              <a:t> </a:t>
            </a:r>
            <a:r>
              <a:rPr lang="en-US" sz="2000">
                <a:latin typeface="Aptos Display"/>
              </a:rPr>
              <a:t> </a:t>
            </a:r>
            <a:endParaRPr lang="fa-IR" sz="2000" b="0">
              <a:latin typeface="Aptos Display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0">
                <a:latin typeface="Aptos Display" panose="020B0004020202020204" pitchFamily="34" charset="0"/>
              </a:rPr>
              <a:t>Jakob Ingvar Utne Midtun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47E7E2F-CCE6-36D0-A3AB-358D23DC0B01}"/>
              </a:ext>
            </a:extLst>
          </p:cNvPr>
          <p:cNvSpPr/>
          <p:nvPr/>
        </p:nvSpPr>
        <p:spPr>
          <a:xfrm>
            <a:off x="759460" y="57251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>
                <a:solidFill>
                  <a:srgbClr val="667085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TK8117</a:t>
            </a:r>
            <a:r>
              <a:rPr lang="en-US">
                <a:solidFill>
                  <a:srgbClr val="66708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· Multivariate Data Analysis</a:t>
            </a:r>
            <a:endParaRPr lang="en-US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616ECC41-403F-FC5E-655D-38B7EFFBC160}"/>
              </a:ext>
            </a:extLst>
          </p:cNvPr>
          <p:cNvSpPr/>
          <p:nvPr/>
        </p:nvSpPr>
        <p:spPr>
          <a:xfrm flipV="1">
            <a:off x="637032" y="2312668"/>
            <a:ext cx="4938268" cy="2"/>
          </a:xfrm>
          <a:prstGeom prst="line">
            <a:avLst/>
          </a:prstGeom>
          <a:noFill/>
          <a:ln w="3810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557973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F3A"/>
                </a:solidFill>
                <a:latin typeface="Aptos Display"/>
              </a:rPr>
              <a:t>Three take-home messages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325880"/>
            <a:ext cx="10515600" cy="1078992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" y="1554480"/>
            <a:ext cx="402336" cy="40233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46304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PCA ranks directions by variance in X, not by usefulness for 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0515600" cy="1078992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4128" y="2971800"/>
            <a:ext cx="402336" cy="402336"/>
          </a:xfrm>
          <a:prstGeom prst="ellipse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88036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1700" b="1">
                <a:solidFill>
                  <a:srgbClr val="7A8699"/>
                </a:solidFill>
                <a:latin typeface="Aptos"/>
              </a:rPr>
              <a:t>The right number of PCs depends on the goal: compression, interpretation, or prediction.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10515600" cy="1078992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8" y="4389120"/>
            <a:ext cx="402336" cy="402336"/>
          </a:xfrm>
          <a:prstGeom prst="ellipse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29768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1700" b="1">
                <a:solidFill>
                  <a:srgbClr val="7A8699"/>
                </a:solidFill>
                <a:latin typeface="Aptos"/>
              </a:rPr>
              <a:t>For prediction, choose k by cross-validating the full PCA + model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r"/>
            <a:r>
              <a:rPr sz="800" b="0">
                <a:solidFill>
                  <a:srgbClr val="7A8699"/>
                </a:solidFill>
                <a:latin typeface="Aptos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6046AF-A900-BBCC-7464-7A11F6D34A9D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557973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0B1F3A"/>
                </a:solidFill>
                <a:latin typeface="Aptos Display"/>
              </a:rPr>
              <a:t>Three take-home messages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325880"/>
            <a:ext cx="10515600" cy="1078992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" y="1554480"/>
            <a:ext cx="402336" cy="402336"/>
          </a:xfrm>
          <a:prstGeom prst="ellipse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46304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1700" b="1">
                <a:solidFill>
                  <a:srgbClr val="7A8699"/>
                </a:solidFill>
                <a:latin typeface="Aptos"/>
              </a:rPr>
              <a:t>PCA ranks directions by variance in X, not by usefulness for 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0515600" cy="1078992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4128" y="2971800"/>
            <a:ext cx="402336" cy="40233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88036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The right number of PCs depends on the goal: compression, interpretation, or prediction.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10515600" cy="1078992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8" y="4389120"/>
            <a:ext cx="402336" cy="402336"/>
          </a:xfrm>
          <a:prstGeom prst="ellipse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29768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1700" b="1">
                <a:solidFill>
                  <a:srgbClr val="7A8699"/>
                </a:solidFill>
                <a:latin typeface="Aptos"/>
              </a:rPr>
              <a:t>For prediction, choose k by cross-validating the full PCA + model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r"/>
            <a:r>
              <a:rPr sz="800" b="0">
                <a:solidFill>
                  <a:srgbClr val="7A8699"/>
                </a:solidFill>
                <a:latin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E51CCD-51D0-E6F6-355F-F2E7073D4AEC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557973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F3A"/>
                </a:solidFill>
                <a:latin typeface="Aptos Display"/>
              </a:rPr>
              <a:t>Three take-home messages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325880"/>
            <a:ext cx="10515600" cy="1078992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" y="1554480"/>
            <a:ext cx="402336" cy="402336"/>
          </a:xfrm>
          <a:prstGeom prst="ellipse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46304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1700" b="1">
                <a:solidFill>
                  <a:srgbClr val="7A8699"/>
                </a:solidFill>
                <a:latin typeface="Aptos"/>
              </a:rPr>
              <a:t>PCA ranks directions by variance in X, not by usefulness for 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0515600" cy="1078992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4128" y="2971800"/>
            <a:ext cx="402336" cy="402336"/>
          </a:xfrm>
          <a:prstGeom prst="ellipse">
            <a:avLst/>
          </a:prstGeom>
          <a:solidFill>
            <a:srgbClr val="7A8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88036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1700" b="1">
                <a:solidFill>
                  <a:srgbClr val="7A8699"/>
                </a:solidFill>
                <a:latin typeface="Aptos"/>
              </a:rPr>
              <a:t>The right number of PCs depends on the goal: compression, interpretation, or prediction.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10515600" cy="1078992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28" y="4389120"/>
            <a:ext cx="402336" cy="40233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800" b="1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29768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For prediction, choose k by cross-validating the full PCA + model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r"/>
            <a:r>
              <a:rPr sz="800" b="0">
                <a:solidFill>
                  <a:srgbClr val="7A8699"/>
                </a:solidFill>
                <a:latin typeface="Aptos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4654C4-81F6-D1BC-F9A0-80F5C62C9C2B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89753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</a:rPr>
              <a:t>The talk has one question</a:t>
            </a:r>
            <a:endParaRPr lang="en-US" sz="360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>
                <a:solidFill>
                  <a:srgbClr val="0072B2"/>
                </a:solidFill>
                <a:latin typeface="Aptos Display" panose="020B0004020202020204" pitchFamily="34" charset="0"/>
                <a:ea typeface="DejaVu Sans" pitchFamily="34" charset="-122"/>
              </a:rPr>
              <a:t>How many PCs are enough?</a:t>
            </a:r>
            <a:endParaRPr lang="en-US" sz="360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87475" y="29009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>
                <a:solidFill>
                  <a:srgbClr val="D55E00"/>
                </a:solidFill>
                <a:latin typeface="Aptos Display" panose="020B0004020202020204" pitchFamily="34" charset="0"/>
                <a:ea typeface="DejaVu Sans" pitchFamily="34" charset="-122"/>
              </a:rPr>
              <a:t>Not enough</a:t>
            </a:r>
            <a:endParaRPr lang="en-US" sz="2600">
              <a:solidFill>
                <a:srgbClr val="D55E00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9610" y="3531872"/>
            <a:ext cx="2933939" cy="106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</a:rPr>
              <a:t>lose relevant information</a:t>
            </a:r>
            <a:endParaRPr lang="en-US" sz="2000">
              <a:latin typeface="Aptos Display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276080" y="2879295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>
                <a:solidFill>
                  <a:srgbClr val="D55E00"/>
                </a:solidFill>
                <a:latin typeface="Aptos Display" panose="020B0004020202020204" pitchFamily="34" charset="0"/>
                <a:ea typeface="DejaVu Sans" pitchFamily="34" charset="-122"/>
              </a:rPr>
              <a:t>Too many</a:t>
            </a:r>
            <a:endParaRPr lang="en-US" sz="2600">
              <a:solidFill>
                <a:srgbClr val="D55E00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58200" y="3391169"/>
            <a:ext cx="3017520" cy="117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</a:rPr>
              <a:t>little reduction</a:t>
            </a:r>
            <a:r>
              <a:rPr lang="en-US" sz="2000">
                <a:latin typeface="Aptos Display" panose="020B0004020202020204" pitchFamily="34" charset="0"/>
              </a:rPr>
              <a:t> </a:t>
            </a: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</a:rPr>
              <a:t>and more noise</a:t>
            </a:r>
            <a:endParaRPr lang="en-US" sz="2000">
              <a:latin typeface="Aptos Display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7492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700" b="1">
                <a:solidFill>
                  <a:srgbClr val="0072B2"/>
                </a:solidFill>
                <a:latin typeface="Aptos Display" panose="020B0004020202020204" pitchFamily="34" charset="0"/>
                <a:ea typeface="DejaVu Sans" pitchFamily="34" charset="-122"/>
              </a:rPr>
              <a:t>useful k</a:t>
            </a:r>
            <a:endParaRPr lang="en-US" sz="2700">
              <a:latin typeface="Aptos Display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41248" y="5330952"/>
            <a:ext cx="0" cy="383410"/>
          </a:xfrm>
          <a:prstGeom prst="line">
            <a:avLst/>
          </a:prstGeom>
          <a:noFill/>
          <a:ln w="5080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1005840" y="5349240"/>
            <a:ext cx="945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>
                <a:solidFill>
                  <a:srgbClr val="0072B2"/>
                </a:solidFill>
                <a:latin typeface="Aptos Display" panose="020B0004020202020204" pitchFamily="34" charset="0"/>
                <a:ea typeface="DejaVu Sans" pitchFamily="34" charset="-122"/>
              </a:rPr>
              <a:t>The answer depends on what “enough” means for the task.</a:t>
            </a:r>
            <a:endParaRPr lang="en-US" sz="2100">
              <a:latin typeface="Aptos Display" panose="020B0004020202020204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0503239-929A-CD7F-13EB-77128232D4B8}"/>
              </a:ext>
            </a:extLst>
          </p:cNvPr>
          <p:cNvSpPr/>
          <p:nvPr/>
        </p:nvSpPr>
        <p:spPr>
          <a:xfrm>
            <a:off x="3879215" y="2840497"/>
            <a:ext cx="4311650" cy="55067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latin typeface="Aptos Display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6E0AD4-AA13-51C6-32A7-3FF27BB54F2E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6FE360-A914-BA3D-16B0-4125FDD83E9D}"/>
              </a:ext>
            </a:extLst>
          </p:cNvPr>
          <p:cNvSpPr txBox="1"/>
          <p:nvPr/>
        </p:nvSpPr>
        <p:spPr>
          <a:xfrm>
            <a:off x="11475720" y="6429971"/>
            <a:ext cx="411480" cy="270843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r"/>
            <a:r>
              <a:rPr lang="fa-IR" sz="800" b="0">
                <a:solidFill>
                  <a:srgbClr val="7A8699"/>
                </a:solidFill>
                <a:latin typeface="Aptos"/>
              </a:rPr>
              <a:t>5</a:t>
            </a:r>
            <a:endParaRPr sz="800" b="0">
              <a:solidFill>
                <a:srgbClr val="7A8699"/>
              </a:solidFill>
              <a:latin typeface="Aptos"/>
            </a:endParaRPr>
          </a:p>
        </p:txBody>
      </p:sp>
      <p:cxnSp>
        <p:nvCxnSpPr>
          <p:cNvPr id="23" name="Connector 4">
            <a:extLst>
              <a:ext uri="{FF2B5EF4-FFF2-40B4-BE49-F238E27FC236}">
                <a16:creationId xmlns:a16="http://schemas.microsoft.com/office/drawing/2014/main" id="{29A9D14D-3AC5-5A89-D7FE-8F3439380DEA}"/>
              </a:ext>
            </a:extLst>
          </p:cNvPr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754629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F3A"/>
                </a:solidFill>
                <a:latin typeface="Aptos Display"/>
              </a:rPr>
              <a:t>Message 1: variance is not usefulness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A8699"/>
                </a:solidFill>
                <a:latin typeface="Aptos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principal_component_variance_and_class_s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813816"/>
            <a:ext cx="633984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10400" y="1397585"/>
            <a:ext cx="4785360" cy="3985338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28800" y="5650992"/>
            <a:ext cx="8321040" cy="438912"/>
          </a:xfrm>
          <a:prstGeom prst="roundRect">
            <a:avLst/>
          </a:prstGeom>
          <a:solidFill>
            <a:srgbClr val="FDF5EF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D55E00"/>
                </a:solidFill>
                <a:latin typeface="Aptos"/>
              </a:rPr>
              <a:t>Do not select k for prediction by variance alone.</a:t>
            </a: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008A649B-5430-94E1-809F-FEFE5DA9B8EE}"/>
              </a:ext>
            </a:extLst>
          </p:cNvPr>
          <p:cNvSpPr/>
          <p:nvPr/>
        </p:nvSpPr>
        <p:spPr>
          <a:xfrm>
            <a:off x="7406640" y="15819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500" b="1">
                <a:solidFill>
                  <a:srgbClr val="0072B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High-variance direction</a:t>
            </a:r>
            <a:endParaRPr lang="en-US" sz="2500">
              <a:latin typeface="Aptos Display" panose="020B0004020202020204" pitchFamily="34" charset="0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FF13396B-0E3B-AC25-C2DD-E91002F032D5}"/>
              </a:ext>
            </a:extLst>
          </p:cNvPr>
          <p:cNvSpPr/>
          <p:nvPr/>
        </p:nvSpPr>
        <p:spPr>
          <a:xfrm>
            <a:off x="7406640" y="20345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Var ≈ 93.6</a:t>
            </a:r>
            <a:endParaRPr lang="en-US" sz="2000">
              <a:latin typeface="Aptos Display" panose="020B0004020202020204" pitchFamily="34" charset="0"/>
            </a:endParaRPr>
          </a:p>
          <a:p>
            <a:pPr marL="0" indent="0" algn="l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|corr(y)| ≈ 0.02</a:t>
            </a:r>
            <a:endParaRPr lang="en-US" sz="2000">
              <a:latin typeface="Aptos Display" panose="020B0004020202020204" pitchFamily="34" charset="0"/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49E8677B-974C-8E1E-3415-C15B9AFAA916}"/>
              </a:ext>
            </a:extLst>
          </p:cNvPr>
          <p:cNvSpPr/>
          <p:nvPr/>
        </p:nvSpPr>
        <p:spPr>
          <a:xfrm>
            <a:off x="7406640" y="2827781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500" b="1">
                <a:solidFill>
                  <a:srgbClr val="D55E0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Predictive direction</a:t>
            </a:r>
            <a:endParaRPr lang="en-US" sz="2500">
              <a:solidFill>
                <a:srgbClr val="D55E00"/>
              </a:solidFill>
              <a:latin typeface="Aptos Display" panose="020B0004020202020204" pitchFamily="34" charset="0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826FA724-1CBD-E2BC-DE4D-3EA3183AD48A}"/>
              </a:ext>
            </a:extLst>
          </p:cNvPr>
          <p:cNvSpPr/>
          <p:nvPr/>
        </p:nvSpPr>
        <p:spPr>
          <a:xfrm>
            <a:off x="7406640" y="3280229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Var ≈ 0.61</a:t>
            </a:r>
            <a:endParaRPr lang="en-US" sz="2000">
              <a:latin typeface="Aptos Display" panose="020B0004020202020204" pitchFamily="34" charset="0"/>
            </a:endParaRPr>
          </a:p>
          <a:p>
            <a:pPr marL="0" indent="0" algn="l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|corr(y)| ≈ 0.98</a:t>
            </a:r>
            <a:endParaRPr lang="en-US" sz="2000">
              <a:latin typeface="Aptos Display" panose="020B0004020202020204" pitchFamily="34" charset="0"/>
            </a:endParaRPr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571A31A2-8D7A-2F99-C8C0-6046F69D2BFB}"/>
              </a:ext>
            </a:extLst>
          </p:cNvPr>
          <p:cNvSpPr/>
          <p:nvPr/>
        </p:nvSpPr>
        <p:spPr>
          <a:xfrm>
            <a:off x="7298690" y="4164581"/>
            <a:ext cx="0" cy="640080"/>
          </a:xfrm>
          <a:prstGeom prst="line">
            <a:avLst/>
          </a:prstGeom>
          <a:noFill/>
          <a:ln w="5080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fa-IR" sz="2000">
              <a:latin typeface="Aptos Display" panose="020B0004020202020204" pitchFamily="34" charset="0"/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6506F643-8D9B-19E2-0BCC-0B88E272D603}"/>
              </a:ext>
            </a:extLst>
          </p:cNvPr>
          <p:cNvSpPr/>
          <p:nvPr/>
        </p:nvSpPr>
        <p:spPr>
          <a:xfrm>
            <a:off x="7406640" y="4164581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 b="1">
                <a:solidFill>
                  <a:srgbClr val="D55E0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A low-variance PC can still carry the class signal.</a:t>
            </a:r>
            <a:endParaRPr lang="en-US" sz="2000">
              <a:latin typeface="Aptos Display" panose="020B00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F3DA1B-939B-2F74-89E8-597F603F0E9E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D2C4F3A7-9AF4-10AD-E03F-0E2C23101F0F}"/>
              </a:ext>
            </a:extLst>
          </p:cNvPr>
          <p:cNvSpPr/>
          <p:nvPr/>
        </p:nvSpPr>
        <p:spPr>
          <a:xfrm>
            <a:off x="8077200" y="2054711"/>
            <a:ext cx="3337560" cy="2331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218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F3A"/>
                </a:solidFill>
                <a:latin typeface="Aptos Display"/>
              </a:rPr>
              <a:t>Message 2: the goal decides the selection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A8699"/>
                </a:solidFill>
                <a:latin typeface="Aptos"/>
              </a:rP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91840" y="1051559"/>
            <a:ext cx="5577840" cy="713029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0B1F3A"/>
                </a:solidFill>
                <a:latin typeface="Aptos"/>
              </a:rPr>
              <a:t>What do you want PCA to 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3337560" cy="2331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Oval 8"/>
          <p:cNvSpPr/>
          <p:nvPr/>
        </p:nvSpPr>
        <p:spPr>
          <a:xfrm>
            <a:off x="1000252" y="2281597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0834"/>
            <a:ext cx="2715768" cy="455509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Compression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" y="2921762"/>
            <a:ext cx="3008376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0252" y="3209544"/>
            <a:ext cx="2971800" cy="6617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2000">
                <a:solidFill>
                  <a:srgbClr val="495057"/>
                </a:solidFill>
                <a:latin typeface="Aptos"/>
              </a:rPr>
              <a:t>Keep enough cumulative variance.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148840"/>
            <a:ext cx="3337560" cy="23317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Oval 14"/>
          <p:cNvSpPr/>
          <p:nvPr/>
        </p:nvSpPr>
        <p:spPr>
          <a:xfrm>
            <a:off x="4636008" y="2276652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90834"/>
            <a:ext cx="2715768" cy="455509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Interpretation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91812" y="2921762"/>
            <a:ext cx="3008376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36008" y="3228036"/>
            <a:ext cx="2971800" cy="6617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2000">
                <a:solidFill>
                  <a:srgbClr val="495057"/>
                </a:solidFill>
                <a:latin typeface="Aptos"/>
              </a:rPr>
              <a:t>Look for a stable elbow or simple structure.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190834"/>
            <a:ext cx="2715768" cy="455509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Prediction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75320" y="2911856"/>
            <a:ext cx="3008376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75320" y="3279573"/>
            <a:ext cx="2971800" cy="6617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2000">
                <a:solidFill>
                  <a:srgbClr val="495057"/>
                </a:solidFill>
                <a:latin typeface="Aptos"/>
              </a:rPr>
              <a:t>Cross-validate the full PCA + model pipeline.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97380" y="5053943"/>
            <a:ext cx="8321040" cy="438912"/>
          </a:xfrm>
          <a:prstGeom prst="roundRect">
            <a:avLst/>
          </a:prstGeom>
          <a:solidFill>
            <a:srgbClr val="FDF5EF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D55E00"/>
                </a:solidFill>
                <a:latin typeface="Aptos"/>
              </a:rPr>
              <a:t>The same dataset can justify different k values depending on the goal.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6DF3C5-3AC1-080B-F35B-4BFC67961BAD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B3D7C86-C92A-6FA6-8FF1-3887930E1443}"/>
              </a:ext>
            </a:extLst>
          </p:cNvPr>
          <p:cNvSpPr/>
          <p:nvPr/>
        </p:nvSpPr>
        <p:spPr>
          <a:xfrm>
            <a:off x="8284464" y="2260261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fa-IR" sz="2000" b="1">
                <a:solidFill>
                  <a:srgbClr val="FFFFFF"/>
                </a:solidFill>
                <a:latin typeface="Aptos"/>
              </a:rPr>
              <a:t>3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56032"/>
            <a:ext cx="640425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F3A"/>
                </a:solidFill>
                <a:latin typeface="Aptos Display"/>
              </a:rPr>
              <a:t>A </a:t>
            </a:r>
            <a:r>
              <a:rPr lang="en-US" sz="3600" b="1">
                <a:solidFill>
                  <a:srgbClr val="0B1F3A"/>
                </a:solidFill>
                <a:latin typeface="Aptos Display"/>
              </a:rPr>
              <a:t>case </a:t>
            </a:r>
            <a:r>
              <a:rPr sz="3600" b="1">
                <a:solidFill>
                  <a:srgbClr val="0B1F3A"/>
                </a:solidFill>
                <a:latin typeface="Aptos Display"/>
              </a:rPr>
              <a:t>study: handwritten digits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A8699"/>
                </a:solidFill>
                <a:latin typeface="Aptos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259320" y="1265429"/>
            <a:ext cx="1681480" cy="747173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0B1F3A"/>
                </a:solidFill>
                <a:latin typeface="Aptos"/>
              </a:rPr>
              <a:t>1,797
samples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63380" y="1233679"/>
            <a:ext cx="2014220" cy="778923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0B1F3A"/>
                </a:solidFill>
                <a:latin typeface="Aptos"/>
              </a:rPr>
              <a:t>64
pixel variables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6870" y="2205579"/>
            <a:ext cx="2221230" cy="778922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0B1F3A"/>
                </a:solidFill>
                <a:latin typeface="Aptos"/>
              </a:rPr>
              <a:t>10
digit 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68183"/>
            <a:ext cx="4853940" cy="438912"/>
          </a:xfrm>
          <a:prstGeom prst="roundRect">
            <a:avLst/>
          </a:prstGeom>
          <a:solidFill>
            <a:srgbClr val="FDF5EF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2000" b="1">
                <a:solidFill>
                  <a:srgbClr val="D55E00"/>
                </a:solidFill>
                <a:latin typeface="Aptos"/>
              </a:rPr>
              <a:t>Question: which k should we keep?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292744"/>
            <a:ext cx="5364480" cy="438912"/>
          </a:xfrm>
          <a:prstGeom prst="roundRect">
            <a:avLst/>
          </a:prstGeom>
          <a:solidFill>
            <a:srgbClr val="FDF5EF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D55E00"/>
                </a:solidFill>
                <a:latin typeface="Aptos"/>
              </a:rPr>
              <a:t>Same dataset, different goals, different k</a:t>
            </a:r>
          </a:p>
        </p:txBody>
      </p:sp>
      <p:pic>
        <p:nvPicPr>
          <p:cNvPr id="30" name="Image 0" descr="/mnt/data/pca_assets_beamerish/digits_grid_big.png">
            <a:extLst>
              <a:ext uri="{FF2B5EF4-FFF2-40B4-BE49-F238E27FC236}">
                <a16:creationId xmlns:a16="http://schemas.microsoft.com/office/drawing/2014/main" id="{578DC74F-7CF1-CECA-520A-6A5DE5D03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969822"/>
            <a:ext cx="5166360" cy="2280526"/>
          </a:xfrm>
          <a:prstGeom prst="rect">
            <a:avLst/>
          </a:prstGeom>
        </p:spPr>
      </p:pic>
      <p:sp>
        <p:nvSpPr>
          <p:cNvPr id="32" name="Text 10">
            <a:extLst>
              <a:ext uri="{FF2B5EF4-FFF2-40B4-BE49-F238E27FC236}">
                <a16:creationId xmlns:a16="http://schemas.microsoft.com/office/drawing/2014/main" id="{A681E977-F6CB-4EDE-F761-552E4EC6217C}"/>
              </a:ext>
            </a:extLst>
          </p:cNvPr>
          <p:cNvSpPr/>
          <p:nvPr/>
        </p:nvSpPr>
        <p:spPr>
          <a:xfrm>
            <a:off x="7160260" y="35808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0072B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rank(X) = 61</a:t>
            </a:r>
            <a:endParaRPr lang="en-US" sz="2000">
              <a:solidFill>
                <a:srgbClr val="0072B2"/>
              </a:solidFill>
              <a:latin typeface="Aptos Display" panose="020B0004020202020204" pitchFamily="34" charset="0"/>
            </a:endParaRPr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781A81DF-7D0F-A440-CB64-A2C98579DBC8}"/>
              </a:ext>
            </a:extLst>
          </p:cNvPr>
          <p:cNvSpPr/>
          <p:nvPr/>
        </p:nvSpPr>
        <p:spPr>
          <a:xfrm>
            <a:off x="7007098" y="3568048"/>
            <a:ext cx="0" cy="1113790"/>
          </a:xfrm>
          <a:prstGeom prst="line">
            <a:avLst/>
          </a:prstGeom>
          <a:noFill/>
          <a:ln w="5080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A42A5930-1D1D-B5FE-2B44-B475CD7FB72F}"/>
              </a:ext>
            </a:extLst>
          </p:cNvPr>
          <p:cNvSpPr/>
          <p:nvPr/>
        </p:nvSpPr>
        <p:spPr>
          <a:xfrm>
            <a:off x="7171690" y="406004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0072B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So k can range from 1 to 61 non-zero components.</a:t>
            </a:r>
            <a:endParaRPr lang="en-US" sz="2000">
              <a:latin typeface="Aptos Display" panose="020B00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5F78015-16C3-9C79-5048-AFE7062FF231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6">
            <a:extLst>
              <a:ext uri="{FF2B5EF4-FFF2-40B4-BE49-F238E27FC236}">
                <a16:creationId xmlns:a16="http://schemas.microsoft.com/office/drawing/2014/main" id="{CF91FC6B-E848-F0BE-6A7D-7987DD76B5B2}"/>
              </a:ext>
            </a:extLst>
          </p:cNvPr>
          <p:cNvSpPr/>
          <p:nvPr/>
        </p:nvSpPr>
        <p:spPr>
          <a:xfrm>
            <a:off x="8599618" y="2487979"/>
            <a:ext cx="2943861" cy="931373"/>
          </a:xfrm>
          <a:prstGeom prst="roundRect">
            <a:avLst>
              <a:gd name="adj" fmla="val 4762"/>
            </a:avLst>
          </a:prstGeom>
          <a:solidFill>
            <a:srgbClr val="F0F4F8"/>
          </a:solidFill>
          <a:ln w="1905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fa-IR" sz="2000">
              <a:latin typeface="Aptos Display" panose="020B00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8167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F3A"/>
                </a:solidFill>
                <a:latin typeface="Aptos Display"/>
              </a:rPr>
              <a:t>Compression: variance thresholds give different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A8699"/>
                </a:solidFill>
                <a:latin typeface="Aptos"/>
              </a:rPr>
              <a:t>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variance_thresholds_different_componen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67" y="1553735"/>
            <a:ext cx="7373807" cy="4149972"/>
          </a:xfrm>
          <a:prstGeom prst="rect">
            <a:avLst/>
          </a:prstGeom>
        </p:spPr>
      </p:pic>
      <p:sp>
        <p:nvSpPr>
          <p:cNvPr id="9" name="Shape 6">
            <a:extLst>
              <a:ext uri="{FF2B5EF4-FFF2-40B4-BE49-F238E27FC236}">
                <a16:creationId xmlns:a16="http://schemas.microsoft.com/office/drawing/2014/main" id="{3C5142D6-062F-B5DC-891A-C0896EF1DAFB}"/>
              </a:ext>
            </a:extLst>
          </p:cNvPr>
          <p:cNvSpPr/>
          <p:nvPr/>
        </p:nvSpPr>
        <p:spPr>
          <a:xfrm>
            <a:off x="8592093" y="1159203"/>
            <a:ext cx="2943861" cy="1225995"/>
          </a:xfrm>
          <a:prstGeom prst="roundRect">
            <a:avLst>
              <a:gd name="adj" fmla="val 4762"/>
            </a:avLst>
          </a:prstGeom>
          <a:solidFill>
            <a:srgbClr val="F0F4F8"/>
          </a:solidFill>
          <a:ln w="1905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fa-IR" sz="2000">
              <a:latin typeface="Aptos Display" panose="020B0004020202020204" pitchFamily="34" charset="0"/>
            </a:endParaRPr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0265AA83-B8A6-F2D1-95CD-6C35E452D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599" y="1346651"/>
            <a:ext cx="2335901" cy="757489"/>
          </a:xfrm>
          <a:prstGeom prst="rect">
            <a:avLst/>
          </a:prstGeom>
        </p:spPr>
      </p:pic>
      <p:pic>
        <p:nvPicPr>
          <p:cNvPr id="12" name="Image 1">
            <a:extLst>
              <a:ext uri="{FF2B5EF4-FFF2-40B4-BE49-F238E27FC236}">
                <a16:creationId xmlns:a16="http://schemas.microsoft.com/office/drawing/2014/main" id="{FD1BA0BA-0B1B-D9F5-910C-18DD1B083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599" y="2831774"/>
            <a:ext cx="2484482" cy="376226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753793FD-57D3-86F4-7C97-51C08880375D}"/>
              </a:ext>
            </a:extLst>
          </p:cNvPr>
          <p:cNvSpPr/>
          <p:nvPr/>
        </p:nvSpPr>
        <p:spPr>
          <a:xfrm>
            <a:off x="8101330" y="381928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>
                <a:solidFill>
                  <a:srgbClr val="0072B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It answers</a:t>
            </a:r>
            <a:endParaRPr lang="en-US" sz="2400">
              <a:latin typeface="Aptos Display" panose="020B0004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11ED4B4-BA76-F7B4-BF1C-002AEB0D2592}"/>
              </a:ext>
            </a:extLst>
          </p:cNvPr>
          <p:cNvSpPr/>
          <p:nvPr/>
        </p:nvSpPr>
        <p:spPr>
          <a:xfrm>
            <a:off x="8019506" y="416204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“How much variance</a:t>
            </a:r>
            <a:r>
              <a:rPr lang="en-US" sz="2000">
                <a:latin typeface="Aptos Display" panose="020B0004020202020204" pitchFamily="34" charset="0"/>
              </a:rPr>
              <a:t> </a:t>
            </a: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in X did we keep?”</a:t>
            </a:r>
            <a:endParaRPr lang="en-US" sz="2000">
              <a:latin typeface="Aptos Display" panose="020B0004020202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004050F-547C-B32E-90E6-54FA27BDD3DD}"/>
              </a:ext>
            </a:extLst>
          </p:cNvPr>
          <p:cNvSpPr/>
          <p:nvPr/>
        </p:nvSpPr>
        <p:spPr>
          <a:xfrm>
            <a:off x="8101330" y="46558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400" b="1">
                <a:solidFill>
                  <a:srgbClr val="D55E0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It does not answer</a:t>
            </a:r>
            <a:endParaRPr lang="en-US" sz="2400">
              <a:solidFill>
                <a:srgbClr val="D55E00"/>
              </a:solidFill>
              <a:latin typeface="Aptos Display" panose="020B0004020202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103FDEA4-DEA4-0AFF-ACC5-39CA3C1324DB}"/>
              </a:ext>
            </a:extLst>
          </p:cNvPr>
          <p:cNvSpPr/>
          <p:nvPr/>
        </p:nvSpPr>
        <p:spPr>
          <a:xfrm>
            <a:off x="8101330" y="5112396"/>
            <a:ext cx="3138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“Is this enough</a:t>
            </a:r>
            <a:r>
              <a:rPr lang="en-US" sz="2000">
                <a:latin typeface="Aptos Display" panose="020B0004020202020204" pitchFamily="34" charset="0"/>
              </a:rPr>
              <a:t> </a:t>
            </a: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for my task?”</a:t>
            </a:r>
            <a:endParaRPr lang="en-US" sz="200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6661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For compression, reconstruction is a sanity check</a:t>
            </a:r>
            <a:endParaRPr lang="en-US" sz="3600">
              <a:latin typeface="Aptos Display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44826" y="6473952"/>
            <a:ext cx="24237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a-IR" sz="800">
                <a:solidFill>
                  <a:srgbClr val="7A8699"/>
                </a:solidFill>
                <a:latin typeface="Aptos"/>
              </a:rPr>
              <a:t>9</a:t>
            </a:r>
            <a:endParaRPr sz="800">
              <a:solidFill>
                <a:srgbClr val="7A8699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54345"/>
            <a:ext cx="11064240" cy="29116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362151" y="4311107"/>
            <a:ext cx="7248805" cy="1143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3912408" y="4345591"/>
            <a:ext cx="4462797" cy="517065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What reconstruction tells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3319" y="4896323"/>
            <a:ext cx="7589287" cy="35394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r>
              <a:rPr lang="en-US" sz="2000">
                <a:solidFill>
                  <a:srgbClr val="18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 a smaller representation</a:t>
            </a:r>
            <a:r>
              <a:rPr lang="en-US" sz="2000"/>
              <a:t> </a:t>
            </a:r>
            <a:r>
              <a:rPr lang="en-US" sz="2000">
                <a:solidFill>
                  <a:srgbClr val="18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still preserve the object?</a:t>
            </a:r>
            <a:endParaRPr lang="en-US" sz="200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A39ED679-5A9D-3EC6-133E-9E9186F5E6F8}"/>
              </a:ext>
            </a:extLst>
          </p:cNvPr>
          <p:cNvSpPr/>
          <p:nvPr/>
        </p:nvSpPr>
        <p:spPr>
          <a:xfrm>
            <a:off x="7315200" y="2148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 Display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1" y="256032"/>
            <a:ext cx="112270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0B1F3A"/>
                </a:solidFill>
                <a:latin typeface="Aptos"/>
              </a:rPr>
              <a:t>Interpretation </a:t>
            </a:r>
            <a:r>
              <a:rPr lang="en-US" sz="3600" b="1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: scree plot asks where the spectrum flattens</a:t>
            </a:r>
            <a:endParaRPr lang="en-US" sz="3600">
              <a:latin typeface="Aptos Display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87117" y="6473952"/>
            <a:ext cx="3000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a-IR" sz="800">
                <a:solidFill>
                  <a:srgbClr val="7A8699"/>
                </a:solidFill>
                <a:latin typeface="Aptos Display" panose="020B0004020202020204" pitchFamily="34" charset="0"/>
              </a:rPr>
              <a:t>10</a:t>
            </a:r>
            <a:endParaRPr sz="800">
              <a:solidFill>
                <a:srgbClr val="7A8699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scree_elb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0" y="1664306"/>
            <a:ext cx="7573366" cy="3926930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97F6A690-0FE8-021D-BE4E-291F03A0BF1B}"/>
              </a:ext>
            </a:extLst>
          </p:cNvPr>
          <p:cNvSpPr/>
          <p:nvPr/>
        </p:nvSpPr>
        <p:spPr>
          <a:xfrm>
            <a:off x="8231348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>
                <a:solidFill>
                  <a:srgbClr val="0072B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Idea</a:t>
            </a:r>
            <a:endParaRPr lang="en-US" sz="2700">
              <a:latin typeface="Aptos Display" panose="020B0004020202020204" pitchFamily="34" charset="0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F0782B06-9914-A389-20E2-F439E0AF40EB}"/>
              </a:ext>
            </a:extLst>
          </p:cNvPr>
          <p:cNvSpPr/>
          <p:nvPr/>
        </p:nvSpPr>
        <p:spPr>
          <a:xfrm>
            <a:off x="8231348" y="1783080"/>
            <a:ext cx="36680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Look for the point after which extra PCs add little variance.</a:t>
            </a:r>
            <a:endParaRPr lang="en-US" sz="2000">
              <a:latin typeface="Aptos Display" panose="020B0004020202020204" pitchFamily="34" charset="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1EAFC001-C4CD-4F51-A210-D9B625FAC24D}"/>
              </a:ext>
            </a:extLst>
          </p:cNvPr>
          <p:cNvSpPr/>
          <p:nvPr/>
        </p:nvSpPr>
        <p:spPr>
          <a:xfrm>
            <a:off x="8231348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>
                <a:solidFill>
                  <a:srgbClr val="D55E0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Why useful</a:t>
            </a:r>
            <a:endParaRPr lang="en-US" sz="2700">
              <a:solidFill>
                <a:srgbClr val="D55E00"/>
              </a:solidFill>
              <a:latin typeface="Aptos Display" panose="020B0004020202020204" pitchFamily="3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A7AB1509-D00E-BECD-EC60-53DFDCDD2728}"/>
              </a:ext>
            </a:extLst>
          </p:cNvPr>
          <p:cNvSpPr/>
          <p:nvPr/>
        </p:nvSpPr>
        <p:spPr>
          <a:xfrm>
            <a:off x="8231348" y="3429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It gives a small, explainable representation. The first PCs are assumed “signals” and the rest are noise.</a:t>
            </a:r>
            <a:endParaRPr lang="en-US" sz="2000">
              <a:latin typeface="Aptos Display" panose="020B0004020202020204" pitchFamily="34" charset="0"/>
            </a:endParaRP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4E96A3CC-2132-3F94-55A1-72FE6FED3829}"/>
              </a:ext>
            </a:extLst>
          </p:cNvPr>
          <p:cNvSpPr/>
          <p:nvPr/>
        </p:nvSpPr>
        <p:spPr>
          <a:xfrm>
            <a:off x="8168640" y="4837176"/>
            <a:ext cx="0" cy="457200"/>
          </a:xfrm>
          <a:prstGeom prst="line">
            <a:avLst/>
          </a:prstGeom>
          <a:noFill/>
          <a:ln w="5080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5D1FF111-AD4D-C958-4F04-3AEEE596F496}"/>
              </a:ext>
            </a:extLst>
          </p:cNvPr>
          <p:cNvSpPr/>
          <p:nvPr/>
        </p:nvSpPr>
        <p:spPr>
          <a:xfrm>
            <a:off x="8333232" y="48554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>
                <a:solidFill>
                  <a:srgbClr val="D55E0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But “the elbow” is not unique.</a:t>
            </a:r>
            <a:endParaRPr lang="en-US" sz="210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8A499-E356-70A0-9281-CE29FC39F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DB4988DB-C821-0A1D-D98A-C98C4994A648}"/>
              </a:ext>
            </a:extLst>
          </p:cNvPr>
          <p:cNvSpPr/>
          <p:nvPr/>
        </p:nvSpPr>
        <p:spPr>
          <a:xfrm>
            <a:off x="7123436" y="3782637"/>
            <a:ext cx="3771899" cy="1872795"/>
          </a:xfrm>
          <a:prstGeom prst="roundRect">
            <a:avLst/>
          </a:prstGeom>
          <a:solidFill>
            <a:srgbClr val="FDF5EF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5ED4CEA-E882-D1E3-3742-6FF379F7EE0C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9D6171-DFE1-F35D-9AA1-7B6A51AEB589}"/>
              </a:ext>
            </a:extLst>
          </p:cNvPr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B1F3A"/>
                </a:solidFill>
                <a:latin typeface="Aptos Display" panose="020B0004020202020204" pitchFamily="34" charset="0"/>
              </a:rPr>
              <a:t>Interpretation </a:t>
            </a:r>
            <a:r>
              <a:rPr lang="en-US" sz="3600" b="1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: distance from the line</a:t>
            </a:r>
            <a:endParaRPr lang="en-US" sz="3600">
              <a:latin typeface="Aptos Display" panose="020B0004020202020204" pitchFamily="34" charset="0"/>
            </a:endParaRPr>
          </a:p>
        </p:txBody>
      </p:sp>
      <p:pic>
        <p:nvPicPr>
          <p:cNvPr id="8" name="Image 0" descr="/mnt/data/pca_assets_beamerish/geometric_elbow_big.png">
            <a:extLst>
              <a:ext uri="{FF2B5EF4-FFF2-40B4-BE49-F238E27FC236}">
                <a16:creationId xmlns:a16="http://schemas.microsoft.com/office/drawing/2014/main" id="{BEDBA7E5-91BE-B958-F32A-4994E7ECD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65895"/>
            <a:ext cx="6263640" cy="4171929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8147352B-36D5-5378-221A-D49057035981}"/>
              </a:ext>
            </a:extLst>
          </p:cNvPr>
          <p:cNvSpPr/>
          <p:nvPr/>
        </p:nvSpPr>
        <p:spPr>
          <a:xfrm>
            <a:off x="7498080" y="19333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Pick the scree point farthest from the grey chord.</a:t>
            </a:r>
            <a:endParaRPr lang="en-US" sz="2100">
              <a:latin typeface="Aptos Display" panose="020B0004020202020204" pitchFamily="34" charset="0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A14168BF-4C1A-4D3E-7946-FEF1AD2BD864}"/>
              </a:ext>
            </a:extLst>
          </p:cNvPr>
          <p:cNvSpPr/>
          <p:nvPr/>
        </p:nvSpPr>
        <p:spPr>
          <a:xfrm>
            <a:off x="7498080" y="2939184"/>
            <a:ext cx="0" cy="411480"/>
          </a:xfrm>
          <a:prstGeom prst="line">
            <a:avLst/>
          </a:prstGeom>
          <a:noFill/>
          <a:ln w="5080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C1C5A61-671B-C870-5E1E-A647C0A601E8}"/>
              </a:ext>
            </a:extLst>
          </p:cNvPr>
          <p:cNvSpPr/>
          <p:nvPr/>
        </p:nvSpPr>
        <p:spPr>
          <a:xfrm>
            <a:off x="7662672" y="29574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>
                <a:solidFill>
                  <a:srgbClr val="D55E0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Digits result: k = 9</a:t>
            </a:r>
            <a:endParaRPr lang="en-US" sz="2100"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3A699F-923B-9D70-EC42-E4D3966667D6}"/>
                  </a:ext>
                </a:extLst>
              </p:cNvPr>
              <p:cNvSpPr txBox="1"/>
              <p:nvPr/>
            </p:nvSpPr>
            <p:spPr>
              <a:xfrm>
                <a:off x="7283168" y="3899304"/>
                <a:ext cx="3479956" cy="24653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fa-IR">
                    <a:latin typeface="Aptos Display" panose="020B0004020202020204" pitchFamily="34" charset="0"/>
                  </a:rPr>
                  <a:t>L= line throu</a:t>
                </a:r>
                <a:r>
                  <a:rPr lang="nb-NO" err="1">
                    <a:latin typeface="Aptos Display" panose="020B0004020202020204" pitchFamily="34" charset="0"/>
                  </a:rPr>
                  <a:t>gh</a:t>
                </a:r>
                <a:r>
                  <a:rPr lang="nb-NO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sSub>
                          <m:sSub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dirty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nb-NO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dirty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nb-NO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>
                  <a:latin typeface="Aptos Display" panose="020B0004020202020204" pitchFamily="34" charset="0"/>
                </a:endParaRPr>
              </a:p>
              <a:p>
                <a:pPr>
                  <a:buNone/>
                </a:pPr>
                <a:endParaRPr lang="fa-IR">
                  <a:latin typeface="Aptos Display" panose="020B000402020202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a-I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a-IR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a-I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a-IR" i="0">
                              <a:latin typeface="Cambria Math" panose="02040503050406030204" pitchFamily="18" charset="0"/>
                            </a:rPr>
                            <m:t>dist</m:t>
                          </m:r>
                        </m:fName>
                        <m:e>
                          <m:r>
                            <a:rPr lang="fa-IR" i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d>
                        <m:dPr>
                          <m:sepChr m:val=","/>
                          <m:ctrlPr>
                            <a:rPr lang="fa-I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e>
                          <m:sSub>
                            <m:sSubPr>
                              <m:ctrlPr>
                                <a:rPr lang="fa-I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fa-I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fa-IR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a-IR" i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fa-IR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latin typeface="Aptos Display" panose="020B0004020202020204" pitchFamily="34" charset="0"/>
                </a:endParaRPr>
              </a:p>
              <a:p>
                <a:pPr>
                  <a:buNone/>
                </a:pPr>
                <a:endParaRPr lang="fa-IR">
                  <a:latin typeface="Aptos Display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a-IR">
                              <a:latin typeface="Cambria Math" panose="02040503050406030204" pitchFamily="18" charset="0"/>
                            </a:rPr>
                            <m:t>geo</m:t>
                          </m:r>
                        </m:sub>
                      </m:sSub>
                      <m:r>
                        <a:rPr lang="fa-IR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a-I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a-IR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fa-IR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a-IR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fa-IR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a-IR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a-I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a-IR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a-I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lim>
                          </m:limLow>
                        </m:e>
                      </m:func>
                      <m:sSub>
                        <m:sSubPr>
                          <m:ctrlPr>
                            <a:rPr lang="fa-I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a-I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a-IR">
                  <a:latin typeface="Aptos Display" panose="020B0004020202020204" pitchFamily="34" charset="0"/>
                </a:endParaRPr>
              </a:p>
              <a:p>
                <a:pPr>
                  <a:buNone/>
                </a:pPr>
                <a:endParaRPr lang="fa-IR">
                  <a:latin typeface="Aptos Display" panose="020B0004020202020204" pitchFamily="34" charset="0"/>
                </a:endParaRPr>
              </a:p>
              <a:p>
                <a:pPr>
                  <a:buNone/>
                </a:pPr>
                <a:br>
                  <a:rPr lang="fa-IR">
                    <a:latin typeface="Aptos Display" panose="020B0004020202020204" pitchFamily="34" charset="0"/>
                  </a:rPr>
                </a:br>
                <a:endParaRPr lang="fa-IR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63A699F-923B-9D70-EC42-E4D396666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168" y="3899304"/>
                <a:ext cx="3479956" cy="2465355"/>
              </a:xfrm>
              <a:prstGeom prst="rect">
                <a:avLst/>
              </a:prstGeom>
              <a:blipFill>
                <a:blip r:embed="rId4"/>
                <a:stretch>
                  <a:fillRect l="-1576" t="-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 4">
            <a:extLst>
              <a:ext uri="{FF2B5EF4-FFF2-40B4-BE49-F238E27FC236}">
                <a16:creationId xmlns:a16="http://schemas.microsoft.com/office/drawing/2014/main" id="{993C3FDE-CF2B-E1FA-1510-25AC924DB6C1}"/>
              </a:ext>
            </a:extLst>
          </p:cNvPr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22D6C9D-722C-60F4-FF75-F3024920719C}"/>
              </a:ext>
            </a:extLst>
          </p:cNvPr>
          <p:cNvSpPr txBox="1"/>
          <p:nvPr/>
        </p:nvSpPr>
        <p:spPr>
          <a:xfrm>
            <a:off x="11595132" y="6473952"/>
            <a:ext cx="29206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a-IR" sz="800">
                <a:solidFill>
                  <a:srgbClr val="7A8699"/>
                </a:solidFill>
                <a:latin typeface="Aptos Display" panose="020B0004020202020204" pitchFamily="34" charset="0"/>
              </a:rPr>
              <a:t>11</a:t>
            </a:r>
            <a:endParaRPr sz="800">
              <a:solidFill>
                <a:srgbClr val="7A8699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708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B1F3A"/>
                </a:solidFill>
                <a:latin typeface="Aptos Display" panose="020B0004020202020204" pitchFamily="34" charset="0"/>
              </a:rPr>
              <a:t>Interpretation </a:t>
            </a:r>
            <a:r>
              <a:rPr lang="en-US" sz="3600" b="1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: </a:t>
            </a:r>
            <a:r>
              <a:rPr lang="en-US" sz="3600" b="1" err="1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Kneedle</a:t>
            </a:r>
            <a:r>
              <a:rPr lang="en-US" sz="3600" b="1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 method</a:t>
            </a:r>
            <a:endParaRPr lang="en-US" sz="3600">
              <a:latin typeface="Aptos Display" panose="020B0004020202020204" pitchFamily="34" charset="0"/>
            </a:endParaRPr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 l="49476" t="-1014" r="-1048" b="1351"/>
          <a:stretch>
            <a:fillRect/>
          </a:stretch>
        </p:blipFill>
        <p:spPr>
          <a:xfrm>
            <a:off x="445186" y="1632428"/>
            <a:ext cx="6257294" cy="4157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9"/>
              <p:cNvSpPr/>
              <p:nvPr/>
            </p:nvSpPr>
            <p:spPr>
              <a:xfrm>
                <a:off x="7498080" y="1933344"/>
                <a:ext cx="384048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457200" indent="-457200">
                  <a:buAutoNum type="arabicPeriod"/>
                </a:pPr>
                <a:r>
                  <a:rPr lang="en-US" sz="2100">
                    <a:solidFill>
                      <a:srgbClr val="182033"/>
                    </a:solidFill>
                    <a:latin typeface="Aptos Display" panose="020B0004020202020204" pitchFamily="34" charset="0"/>
                    <a:ea typeface="DejaVu Sans" pitchFamily="34" charset="-122"/>
                  </a:rPr>
                  <a:t>Normalize </a:t>
                </a:r>
                <a14:m>
                  <m:oMath xmlns:m="http://schemas.openxmlformats.org/officeDocument/2006/math">
                    <m:r>
                      <a:rPr lang="nb-NO" sz="2100" b="0" i="1" smtClean="0">
                        <a:solidFill>
                          <a:srgbClr val="182033"/>
                        </a:solidFill>
                        <a:latin typeface="Cambria Math" panose="02040503050406030204" pitchFamily="18" charset="0"/>
                        <a:ea typeface="DejaVu Sans" pitchFamily="34" charset="-122"/>
                      </a:rPr>
                      <m:t>𝑥</m:t>
                    </m:r>
                  </m:oMath>
                </a14:m>
                <a:r>
                  <a:rPr lang="en-US" sz="2100">
                    <a:solidFill>
                      <a:srgbClr val="182033"/>
                    </a:solidFill>
                    <a:latin typeface="Aptos Display" panose="020B0004020202020204" pitchFamily="34" charset="0"/>
                    <a:ea typeface="DejaVu Sans" pitchFamily="34" charset="-122"/>
                  </a:rPr>
                  <a:t> and </a:t>
                </a:r>
                <a14:m>
                  <m:oMath xmlns:m="http://schemas.openxmlformats.org/officeDocument/2006/math">
                    <m:r>
                      <a:rPr lang="nb-NO" sz="2100" b="0" i="1" smtClean="0">
                        <a:solidFill>
                          <a:srgbClr val="182033"/>
                        </a:solidFill>
                        <a:latin typeface="Cambria Math" panose="02040503050406030204" pitchFamily="18" charset="0"/>
                        <a:ea typeface="DejaVu Sans" pitchFamily="34" charset="-122"/>
                      </a:rPr>
                      <m:t>𝑦</m:t>
                    </m:r>
                  </m:oMath>
                </a14:m>
                <a:endParaRPr lang="nb-NO" sz="2100" b="0">
                  <a:solidFill>
                    <a:srgbClr val="182033"/>
                  </a:solidFill>
                  <a:latin typeface="Aptos Display" panose="020B0004020202020204" pitchFamily="34" charset="0"/>
                  <a:ea typeface="DejaVu Sans" pitchFamily="34" charset="-122"/>
                </a:endParaRPr>
              </a:p>
              <a:p>
                <a:pPr marL="457200" indent="-457200">
                  <a:buAutoNum type="arabicPeriod"/>
                </a:pPr>
                <a:r>
                  <a:rPr lang="en-US" sz="2100">
                    <a:solidFill>
                      <a:srgbClr val="182033"/>
                    </a:solidFill>
                    <a:latin typeface="Aptos Display" panose="020B0004020202020204" pitchFamily="34" charset="0"/>
                    <a:ea typeface="DejaVu Sans" pitchFamily="34" charset="-122"/>
                  </a:rPr>
                  <a:t>Transform the curve to a </a:t>
                </a:r>
                <a:r>
                  <a:rPr lang="en-US" sz="2100" i="1">
                    <a:solidFill>
                      <a:srgbClr val="182033"/>
                    </a:solidFill>
                    <a:latin typeface="Aptos Display" panose="020B0004020202020204" pitchFamily="34" charset="0"/>
                    <a:ea typeface="DejaVu Sans" pitchFamily="34" charset="-122"/>
                  </a:rPr>
                  <a:t>difference curve: </a:t>
                </a:r>
                <a:endParaRPr lang="nb-NO" sz="2100" b="0" i="1">
                  <a:solidFill>
                    <a:srgbClr val="182033"/>
                  </a:solidFill>
                  <a:latin typeface="Cambria Math" panose="02040503050406030204" pitchFamily="18" charset="0"/>
                  <a:ea typeface="DejaVu Sans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100" b="0" i="1" smtClean="0">
                          <a:solidFill>
                            <a:srgbClr val="182033"/>
                          </a:solidFill>
                          <a:latin typeface="Cambria Math" panose="02040503050406030204" pitchFamily="18" charset="0"/>
                          <a:ea typeface="DejaVu Sans" pitchFamily="34" charset="-122"/>
                        </a:rPr>
                        <m:t>𝐷</m:t>
                      </m:r>
                      <m:d>
                        <m:dPr>
                          <m:ctrlPr>
                            <a:rPr lang="nb-NO" sz="2100" b="0" i="1" smtClean="0">
                              <a:solidFill>
                                <a:srgbClr val="182033"/>
                              </a:solidFill>
                              <a:latin typeface="Cambria Math" panose="02040503050406030204" pitchFamily="18" charset="0"/>
                              <a:ea typeface="DejaVu Sans" pitchFamily="34" charset="-122"/>
                            </a:rPr>
                          </m:ctrlPr>
                        </m:dPr>
                        <m:e>
                          <m:r>
                            <a:rPr lang="nb-NO" sz="2100" b="0" i="1" smtClean="0">
                              <a:solidFill>
                                <a:srgbClr val="182033"/>
                              </a:solidFill>
                              <a:latin typeface="Cambria Math" panose="02040503050406030204" pitchFamily="18" charset="0"/>
                              <a:ea typeface="DejaVu Sans" pitchFamily="34" charset="-122"/>
                            </a:rPr>
                            <m:t>𝑥</m:t>
                          </m:r>
                        </m:e>
                      </m:d>
                      <m:r>
                        <a:rPr lang="nb-NO" sz="2100" b="0" i="1" smtClean="0">
                          <a:solidFill>
                            <a:srgbClr val="182033"/>
                          </a:solidFill>
                          <a:latin typeface="Cambria Math" panose="02040503050406030204" pitchFamily="18" charset="0"/>
                          <a:ea typeface="DejaVu Sans" pitchFamily="34" charset="-122"/>
                        </a:rPr>
                        <m:t>=</m:t>
                      </m:r>
                      <m:d>
                        <m:dPr>
                          <m:ctrlPr>
                            <a:rPr lang="nb-NO" sz="2100" b="0" i="1" smtClean="0">
                              <a:solidFill>
                                <a:srgbClr val="182033"/>
                              </a:solidFill>
                              <a:latin typeface="Cambria Math" panose="02040503050406030204" pitchFamily="18" charset="0"/>
                              <a:ea typeface="DejaVu Sans" pitchFamily="34" charset="-122"/>
                            </a:rPr>
                          </m:ctrlPr>
                        </m:dPr>
                        <m:e>
                          <m:r>
                            <a:rPr lang="nb-NO" sz="2100" b="0" i="1" smtClean="0">
                              <a:solidFill>
                                <a:srgbClr val="182033"/>
                              </a:solidFill>
                              <a:latin typeface="Cambria Math" panose="02040503050406030204" pitchFamily="18" charset="0"/>
                              <a:ea typeface="DejaVu Sans" pitchFamily="34" charset="-122"/>
                            </a:rPr>
                            <m:t>1−</m:t>
                          </m:r>
                          <m:sSub>
                            <m:sSubPr>
                              <m:ctrlPr>
                                <a:rPr lang="nb-NO" sz="2100" b="0" i="1" smtClean="0">
                                  <a:solidFill>
                                    <a:srgbClr val="182033"/>
                                  </a:solidFill>
                                  <a:latin typeface="Cambria Math" panose="02040503050406030204" pitchFamily="18" charset="0"/>
                                  <a:ea typeface="DejaVu Sans" pitchFamily="34" charset="-122"/>
                                </a:rPr>
                              </m:ctrlPr>
                            </m:sSubPr>
                            <m:e>
                              <m:r>
                                <a:rPr lang="nb-NO" sz="2100" b="0" i="1" smtClean="0">
                                  <a:solidFill>
                                    <a:srgbClr val="182033"/>
                                  </a:solidFill>
                                  <a:latin typeface="Cambria Math" panose="02040503050406030204" pitchFamily="18" charset="0"/>
                                  <a:ea typeface="DejaVu Sans" pitchFamily="34" charset="-122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b-NO" sz="2100" b="0" i="1" smtClean="0">
                                  <a:solidFill>
                                    <a:srgbClr val="182033"/>
                                  </a:solidFill>
                                  <a:latin typeface="Cambria Math" panose="02040503050406030204" pitchFamily="18" charset="0"/>
                                  <a:ea typeface="DejaVu Sans" pitchFamily="34" charset="-122"/>
                                </a:rPr>
                                <m:t>𝑛𝑜𝑟𝑚</m:t>
                              </m:r>
                            </m:sub>
                          </m:sSub>
                        </m:e>
                      </m:d>
                      <m:r>
                        <a:rPr lang="nb-NO" sz="2100" b="0" i="1" smtClean="0">
                          <a:solidFill>
                            <a:srgbClr val="182033"/>
                          </a:solidFill>
                          <a:latin typeface="Cambria Math" panose="02040503050406030204" pitchFamily="18" charset="0"/>
                          <a:ea typeface="DejaVu Sans" pitchFamily="34" charset="-122"/>
                        </a:rPr>
                        <m:t> −</m:t>
                      </m:r>
                      <m:sSub>
                        <m:sSubPr>
                          <m:ctrlPr>
                            <a:rPr lang="nb-NO" sz="2100" b="0" i="1" smtClean="0">
                              <a:solidFill>
                                <a:srgbClr val="182033"/>
                              </a:solidFill>
                              <a:latin typeface="Cambria Math" panose="02040503050406030204" pitchFamily="18" charset="0"/>
                              <a:ea typeface="DejaVu Sans" pitchFamily="34" charset="-122"/>
                            </a:rPr>
                          </m:ctrlPr>
                        </m:sSubPr>
                        <m:e>
                          <m:r>
                            <a:rPr lang="nb-NO" sz="2100" b="0" i="1" smtClean="0">
                              <a:solidFill>
                                <a:srgbClr val="182033"/>
                              </a:solidFill>
                              <a:latin typeface="Cambria Math" panose="02040503050406030204" pitchFamily="18" charset="0"/>
                              <a:ea typeface="DejaVu Sans" pitchFamily="34" charset="-122"/>
                            </a:rPr>
                            <m:t>𝑥</m:t>
                          </m:r>
                        </m:e>
                        <m:sub>
                          <m:r>
                            <a:rPr lang="nb-NO" sz="2100" b="0" i="1" smtClean="0">
                              <a:solidFill>
                                <a:srgbClr val="182033"/>
                              </a:solidFill>
                              <a:latin typeface="Cambria Math" panose="02040503050406030204" pitchFamily="18" charset="0"/>
                              <a:ea typeface="DejaVu Sans" pitchFamily="34" charset="-122"/>
                            </a:rPr>
                            <m:t>𝑛𝑜𝑟𝑚</m:t>
                          </m:r>
                        </m:sub>
                      </m:sSub>
                    </m:oMath>
                  </m:oMathPara>
                </a14:m>
                <a:endParaRPr lang="en-US" sz="2100" b="0" i="1">
                  <a:solidFill>
                    <a:srgbClr val="182033"/>
                  </a:solidFill>
                  <a:latin typeface="Aptos Display" panose="020B0004020202020204" pitchFamily="34" charset="0"/>
                  <a:ea typeface="DejaVu Sans" pitchFamily="34" charset="-122"/>
                </a:endParaRPr>
              </a:p>
              <a:p>
                <a:pPr marL="457200" indent="-457200">
                  <a:buAutoNum type="arabicPeriod" startAt="3"/>
                </a:pPr>
                <a:r>
                  <a:rPr lang="en-US" sz="2100">
                    <a:solidFill>
                      <a:srgbClr val="182033"/>
                    </a:solidFill>
                    <a:latin typeface="Aptos Display" panose="020B0004020202020204" pitchFamily="34" charset="0"/>
                    <a:ea typeface="DejaVu Sans" pitchFamily="34" charset="-122"/>
                  </a:rPr>
                  <a:t>Find local maximum</a:t>
                </a:r>
              </a:p>
              <a:p>
                <a:pPr marL="457200" indent="-457200">
                  <a:buAutoNum type="arabicPeriod" startAt="3"/>
                </a:pPr>
                <a:r>
                  <a:rPr lang="en-US" sz="2100" b="0">
                    <a:solidFill>
                      <a:srgbClr val="182033"/>
                    </a:solidFill>
                    <a:latin typeface="Aptos Display" panose="020B0004020202020204" pitchFamily="34" charset="0"/>
                    <a:ea typeface="DejaVu Sans" pitchFamily="34" charset="-122"/>
                  </a:rPr>
                  <a:t>Use a </a:t>
                </a:r>
                <a:r>
                  <a:rPr lang="en-US" sz="2100" i="1">
                    <a:solidFill>
                      <a:srgbClr val="182033"/>
                    </a:solidFill>
                    <a:latin typeface="Aptos Display" panose="020B0004020202020204" pitchFamily="34" charset="0"/>
                    <a:ea typeface="DejaVu Sans" pitchFamily="34" charset="-122"/>
                  </a:rPr>
                  <a:t>sensitivity threshold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sz="2100" b="0" i="1" smtClean="0">
                          <a:solidFill>
                            <a:srgbClr val="182033"/>
                          </a:solidFill>
                          <a:latin typeface="Cambria Math" panose="02040503050406030204" pitchFamily="18" charset="0"/>
                          <a:ea typeface="DejaVu Sans" pitchFamily="34" charset="-122"/>
                        </a:rPr>
                        <m:t>𝑇</m:t>
                      </m:r>
                      <m:r>
                        <a:rPr lang="nb-NO" sz="2100" b="0" i="1" smtClean="0">
                          <a:solidFill>
                            <a:srgbClr val="182033"/>
                          </a:solidFill>
                          <a:latin typeface="Cambria Math" panose="02040503050406030204" pitchFamily="18" charset="0"/>
                          <a:ea typeface="DejaVu Sans" pitchFamily="34" charset="-122"/>
                        </a:rPr>
                        <m:t>=</m:t>
                      </m:r>
                      <m:sSub>
                        <m:sSubPr>
                          <m:ctrlPr>
                            <a:rPr lang="nb-NO" sz="2100" b="0" i="1" smtClean="0">
                              <a:solidFill>
                                <a:srgbClr val="182033"/>
                              </a:solidFill>
                              <a:latin typeface="Cambria Math" panose="02040503050406030204" pitchFamily="18" charset="0"/>
                              <a:ea typeface="DejaVu Sans" pitchFamily="34" charset="-122"/>
                            </a:rPr>
                          </m:ctrlPr>
                        </m:sSubPr>
                        <m:e>
                          <m:r>
                            <a:rPr lang="nb-NO" sz="2100" b="0" i="1" smtClean="0">
                              <a:solidFill>
                                <a:srgbClr val="182033"/>
                              </a:solidFill>
                              <a:latin typeface="Cambria Math" panose="02040503050406030204" pitchFamily="18" charset="0"/>
                              <a:ea typeface="DejaVu Sans" pitchFamily="34" charset="-122"/>
                            </a:rPr>
                            <m:t>𝐷</m:t>
                          </m:r>
                        </m:e>
                        <m:sub>
                          <m:r>
                            <a:rPr lang="nb-NO" sz="2100" b="0" i="1" smtClean="0">
                              <a:solidFill>
                                <a:srgbClr val="182033"/>
                              </a:solidFill>
                              <a:latin typeface="Cambria Math" panose="02040503050406030204" pitchFamily="18" charset="0"/>
                              <a:ea typeface="DejaVu Sans" pitchFamily="34" charset="-122"/>
                            </a:rPr>
                            <m:t>𝑚𝑎𝑥</m:t>
                          </m:r>
                        </m:sub>
                      </m:sSub>
                      <m:r>
                        <a:rPr lang="nb-NO" sz="2100" b="0" i="1" smtClean="0">
                          <a:solidFill>
                            <a:srgbClr val="182033"/>
                          </a:solidFill>
                          <a:latin typeface="Cambria Math" panose="02040503050406030204" pitchFamily="18" charset="0"/>
                          <a:ea typeface="DejaVu Sans" pitchFamily="34" charset="-122"/>
                        </a:rPr>
                        <m:t>−</m:t>
                      </m:r>
                      <m:r>
                        <a:rPr lang="nb-NO" sz="2100" b="0" i="1" smtClean="0">
                          <a:solidFill>
                            <a:srgbClr val="182033"/>
                          </a:solidFill>
                          <a:latin typeface="Cambria Math" panose="02040503050406030204" pitchFamily="18" charset="0"/>
                          <a:ea typeface="DejaVu Sans" pitchFamily="34" charset="-122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l-GR" sz="2100" b="0" i="1" smtClean="0">
                          <a:solidFill>
                            <a:srgbClr val="182033"/>
                          </a:solidFill>
                          <a:latin typeface="Cambria Math" panose="02040503050406030204" pitchFamily="18" charset="0"/>
                          <a:ea typeface="DejaVu Sans" pitchFamily="34" charset="-122"/>
                        </a:rPr>
                        <m:t>Δ</m:t>
                      </m:r>
                      <m:r>
                        <a:rPr lang="nb-NO" sz="2100" b="0" i="1" smtClean="0">
                          <a:solidFill>
                            <a:srgbClr val="182033"/>
                          </a:solidFill>
                          <a:latin typeface="Cambria Math" panose="02040503050406030204" pitchFamily="18" charset="0"/>
                          <a:ea typeface="DejaVu Sans" pitchFamily="34" charset="-122"/>
                        </a:rPr>
                        <m:t>𝑥</m:t>
                      </m:r>
                    </m:oMath>
                  </m:oMathPara>
                </a14:m>
                <a:endParaRPr lang="en-US" sz="2100" i="1">
                  <a:solidFill>
                    <a:srgbClr val="182033"/>
                  </a:solidFill>
                  <a:latin typeface="Aptos Display" panose="020B0004020202020204" pitchFamily="34" charset="0"/>
                  <a:ea typeface="DejaVu Sans" pitchFamily="34" charset="-122"/>
                </a:endParaRPr>
              </a:p>
              <a:p>
                <a:pPr marL="457200" indent="-457200">
                  <a:buAutoNum type="arabicPeriod" startAt="5"/>
                </a:pPr>
                <a:r>
                  <a:rPr lang="en-US" sz="2100">
                    <a:solidFill>
                      <a:srgbClr val="182033"/>
                    </a:solidFill>
                    <a:latin typeface="Aptos Display" panose="020B0004020202020204" pitchFamily="34" charset="0"/>
                    <a:ea typeface="DejaVu Sans" pitchFamily="34" charset="-122"/>
                  </a:rPr>
                  <a:t>Follow curve – if it crosses the threshold it is a knee (or elbow)</a:t>
                </a:r>
              </a:p>
              <a:p>
                <a:pPr marL="457200" indent="-457200">
                  <a:buAutoNum type="arabicPeriod" startAt="3"/>
                </a:pPr>
                <a:endParaRPr lang="en-US" sz="2100" i="1">
                  <a:solidFill>
                    <a:srgbClr val="182033"/>
                  </a:solidFill>
                  <a:latin typeface="Aptos Display" panose="020B0004020202020204" pitchFamily="34" charset="0"/>
                  <a:ea typeface="DejaVu Sans" pitchFamily="34" charset="-122"/>
                </a:endParaRPr>
              </a:p>
              <a:p>
                <a:pPr marL="457200" indent="-457200">
                  <a:buAutoNum type="arabicPeriod" startAt="3"/>
                </a:pPr>
                <a:endParaRPr lang="nb-NO" sz="2100" b="0">
                  <a:solidFill>
                    <a:srgbClr val="182033"/>
                  </a:solidFill>
                  <a:latin typeface="Aptos Display" panose="020B0004020202020204" pitchFamily="34" charset="0"/>
                  <a:ea typeface="DejaVu Sans" pitchFamily="34" charset="-122"/>
                </a:endParaRPr>
              </a:p>
            </p:txBody>
          </p:sp>
        </mc:Choice>
        <mc:Fallback xmlns="">
          <p:sp>
            <p:nvSpPr>
              <p:cNvPr id="14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0" y="1933344"/>
                <a:ext cx="3840480" cy="457200"/>
              </a:xfrm>
              <a:prstGeom prst="rect">
                <a:avLst/>
              </a:prstGeom>
              <a:blipFill>
                <a:blip r:embed="rId4"/>
                <a:stretch>
                  <a:fillRect l="-4286" t="-20000" r="-2540" b="-636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0"/>
          <p:cNvSpPr/>
          <p:nvPr/>
        </p:nvSpPr>
        <p:spPr>
          <a:xfrm>
            <a:off x="7560458" y="5107536"/>
            <a:ext cx="0" cy="411480"/>
          </a:xfrm>
          <a:prstGeom prst="line">
            <a:avLst/>
          </a:prstGeom>
          <a:noFill/>
          <a:ln w="5080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Text 11"/>
          <p:cNvSpPr/>
          <p:nvPr/>
        </p:nvSpPr>
        <p:spPr>
          <a:xfrm>
            <a:off x="7725050" y="51258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>
                <a:solidFill>
                  <a:srgbClr val="D55E0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Digits result: k = 13</a:t>
            </a:r>
            <a:endParaRPr lang="en-US" sz="2100">
              <a:latin typeface="Aptos Display" panose="020B0004020202020204" pitchFamily="34" charset="0"/>
            </a:endParaRPr>
          </a:p>
        </p:txBody>
      </p:sp>
      <p:cxnSp>
        <p:nvCxnSpPr>
          <p:cNvPr id="21" name="Connector 4">
            <a:extLst>
              <a:ext uri="{FF2B5EF4-FFF2-40B4-BE49-F238E27FC236}">
                <a16:creationId xmlns:a16="http://schemas.microsoft.com/office/drawing/2014/main" id="{4AD2CB26-4F2F-2963-F8F4-B0E0307C11A9}"/>
              </a:ext>
            </a:extLst>
          </p:cNvPr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D4ACBE2-9084-B324-161C-C8E42BF7C115}"/>
              </a:ext>
            </a:extLst>
          </p:cNvPr>
          <p:cNvSpPr txBox="1"/>
          <p:nvPr/>
        </p:nvSpPr>
        <p:spPr>
          <a:xfrm>
            <a:off x="11595132" y="6473952"/>
            <a:ext cx="29206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a-IR" sz="800">
                <a:solidFill>
                  <a:srgbClr val="7A8699"/>
                </a:solidFill>
                <a:latin typeface="Aptos Display" panose="020B0004020202020204" pitchFamily="34" charset="0"/>
              </a:rPr>
              <a:t>11</a:t>
            </a:r>
            <a:endParaRPr sz="800">
              <a:solidFill>
                <a:srgbClr val="7A8699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7">
            <a:extLst>
              <a:ext uri="{FF2B5EF4-FFF2-40B4-BE49-F238E27FC236}">
                <a16:creationId xmlns:a16="http://schemas.microsoft.com/office/drawing/2014/main" id="{9924BC48-B060-B1C3-0AD7-C1452E004494}"/>
              </a:ext>
            </a:extLst>
          </p:cNvPr>
          <p:cNvSpPr/>
          <p:nvPr/>
        </p:nvSpPr>
        <p:spPr>
          <a:xfrm>
            <a:off x="8961120" y="1600201"/>
            <a:ext cx="1831130" cy="839432"/>
          </a:xfrm>
          <a:prstGeom prst="roundRect">
            <a:avLst/>
          </a:prstGeom>
          <a:solidFill>
            <a:srgbClr val="FDF5EF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9423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F3A"/>
                </a:solidFill>
                <a:latin typeface="Aptos Display"/>
              </a:rPr>
              <a:t>Interpretation: Kaiser keeps eigenvalues above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3229" y="6473952"/>
            <a:ext cx="45397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7A8699"/>
                </a:solidFill>
                <a:latin typeface="Aptos Display" panose="020B0004020202020204" pitchFamily="34" charset="0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kai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12" y="1396691"/>
            <a:ext cx="8046720" cy="4172373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344C66D7-E844-35E5-4C9C-9A62CA7CF09E}"/>
              </a:ext>
            </a:extLst>
          </p:cNvPr>
          <p:cNvSpPr/>
          <p:nvPr/>
        </p:nvSpPr>
        <p:spPr>
          <a:xfrm>
            <a:off x="8568119" y="112711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>
                <a:solidFill>
                  <a:srgbClr val="E69F0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Rule</a:t>
            </a:r>
            <a:endParaRPr lang="en-US" sz="2400">
              <a:latin typeface="Aptos Display" panose="020B0004020202020204" pitchFamily="34" charset="0"/>
            </a:endParaRPr>
          </a:p>
        </p:txBody>
      </p:sp>
      <p:pic>
        <p:nvPicPr>
          <p:cNvPr id="20" name="Image 1" descr="/mnt/data/pca_assets_beamerish/eq_kaiser_clean.png">
            <a:extLst>
              <a:ext uri="{FF2B5EF4-FFF2-40B4-BE49-F238E27FC236}">
                <a16:creationId xmlns:a16="http://schemas.microsoft.com/office/drawing/2014/main" id="{696C995B-A98E-3A22-5E9B-276E4FA12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233" y="1877035"/>
            <a:ext cx="866376" cy="374791"/>
          </a:xfrm>
          <a:prstGeom prst="rect">
            <a:avLst/>
          </a:prstGeom>
        </p:spPr>
      </p:pic>
      <p:sp>
        <p:nvSpPr>
          <p:cNvPr id="22" name="Text 8">
            <a:extLst>
              <a:ext uri="{FF2B5EF4-FFF2-40B4-BE49-F238E27FC236}">
                <a16:creationId xmlns:a16="http://schemas.microsoft.com/office/drawing/2014/main" id="{FAEACCFD-ADDD-9226-7988-729E1F1159EB}"/>
              </a:ext>
            </a:extLst>
          </p:cNvPr>
          <p:cNvSpPr/>
          <p:nvPr/>
        </p:nvSpPr>
        <p:spPr>
          <a:xfrm>
            <a:off x="8568119" y="2796617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Keep PC i if its eigenvalue is larger than one.</a:t>
            </a:r>
            <a:endParaRPr lang="en-US" sz="2000">
              <a:latin typeface="Aptos Display" panose="020B0004020202020204" pitchFamily="34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1014732C-16F8-3F0D-DEE8-4EE33F7064E4}"/>
              </a:ext>
            </a:extLst>
          </p:cNvPr>
          <p:cNvSpPr/>
          <p:nvPr/>
        </p:nvSpPr>
        <p:spPr>
          <a:xfrm>
            <a:off x="8568119" y="3528137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>
                <a:solidFill>
                  <a:srgbClr val="0072B2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Why 1?</a:t>
            </a:r>
            <a:endParaRPr lang="en-US" sz="2400">
              <a:latin typeface="Aptos Display" panose="020B0004020202020204" pitchFamily="34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31D23984-8F15-D5A8-5EB9-683943056420}"/>
              </a:ext>
            </a:extLst>
          </p:cNvPr>
          <p:cNvSpPr/>
          <p:nvPr/>
        </p:nvSpPr>
        <p:spPr>
          <a:xfrm>
            <a:off x="8568119" y="3985337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After standardization, each original variable has variance 1.</a:t>
            </a:r>
            <a:endParaRPr lang="en-US" sz="2000">
              <a:latin typeface="Aptos Display" panose="020B0004020202020204" pitchFamily="34" charset="0"/>
            </a:endParaRP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378D49F4-08F4-CBB0-424E-72B5547949A5}"/>
              </a:ext>
            </a:extLst>
          </p:cNvPr>
          <p:cNvSpPr/>
          <p:nvPr/>
        </p:nvSpPr>
        <p:spPr>
          <a:xfrm>
            <a:off x="8568119" y="5174057"/>
            <a:ext cx="0" cy="411480"/>
          </a:xfrm>
          <a:prstGeom prst="line">
            <a:avLst/>
          </a:prstGeom>
          <a:noFill/>
          <a:ln w="5080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5B9CE43E-BCF6-D5C2-DA65-68557B7C02B6}"/>
              </a:ext>
            </a:extLst>
          </p:cNvPr>
          <p:cNvSpPr/>
          <p:nvPr/>
        </p:nvSpPr>
        <p:spPr>
          <a:xfrm>
            <a:off x="8732711" y="5192345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D55E0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Digits result: k = 17</a:t>
            </a:r>
            <a:endParaRPr lang="en-US" sz="200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8F9F5DE-C921-6402-F7B2-28686E11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E8C95B-6A11-56D4-2721-4A322A500AA9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4CBAA-E68B-4E5A-0225-7A10E5F74316}"/>
              </a:ext>
            </a:extLst>
          </p:cNvPr>
          <p:cNvSpPr txBox="1"/>
          <p:nvPr/>
        </p:nvSpPr>
        <p:spPr>
          <a:xfrm>
            <a:off x="502920" y="256032"/>
            <a:ext cx="1045651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600" b="1" err="1">
                <a:solidFill>
                  <a:srgbClr val="0B1F3A"/>
                </a:solidFill>
                <a:latin typeface="Aptos Display"/>
              </a:rPr>
              <a:t>Summary</a:t>
            </a:r>
            <a:r>
              <a:rPr lang="nb-NO" sz="3600" b="1">
                <a:solidFill>
                  <a:srgbClr val="0B1F3A"/>
                </a:solidFill>
                <a:latin typeface="Aptos Display"/>
              </a:rPr>
              <a:t> and </a:t>
            </a:r>
            <a:r>
              <a:rPr lang="nb-NO" sz="3600" b="1" err="1">
                <a:solidFill>
                  <a:srgbClr val="0B1F3A"/>
                </a:solidFill>
                <a:latin typeface="Aptos Display"/>
              </a:rPr>
              <a:t>short-comings</a:t>
            </a:r>
            <a:r>
              <a:rPr lang="nb-NO" sz="3600" b="1">
                <a:solidFill>
                  <a:srgbClr val="0B1F3A"/>
                </a:solidFill>
                <a:latin typeface="Aptos Display"/>
              </a:rPr>
              <a:t>: </a:t>
            </a:r>
            <a:r>
              <a:rPr lang="nb-NO" sz="3600" b="1" err="1">
                <a:solidFill>
                  <a:srgbClr val="0B1F3A"/>
                </a:solidFill>
                <a:latin typeface="Aptos Display"/>
              </a:rPr>
              <a:t>cumulative</a:t>
            </a:r>
            <a:r>
              <a:rPr lang="nb-NO" sz="3600" b="1">
                <a:solidFill>
                  <a:srgbClr val="0B1F3A"/>
                </a:solidFill>
                <a:latin typeface="Aptos Display"/>
              </a:rPr>
              <a:t> </a:t>
            </a:r>
            <a:r>
              <a:rPr lang="nb-NO" sz="3600" b="1" err="1">
                <a:solidFill>
                  <a:srgbClr val="0B1F3A"/>
                </a:solidFill>
                <a:latin typeface="Aptos Display"/>
              </a:rPr>
              <a:t>explained</a:t>
            </a:r>
            <a:r>
              <a:rPr lang="nb-NO" sz="3600" b="1">
                <a:solidFill>
                  <a:srgbClr val="0B1F3A"/>
                </a:solidFill>
                <a:latin typeface="Aptos Display"/>
              </a:rPr>
              <a:t> </a:t>
            </a:r>
          </a:p>
          <a:p>
            <a:r>
              <a:rPr lang="nb-NO" sz="3600" b="1" err="1">
                <a:solidFill>
                  <a:srgbClr val="0B1F3A"/>
                </a:solidFill>
                <a:latin typeface="Aptos Display"/>
              </a:rPr>
              <a:t>variance</a:t>
            </a:r>
            <a:endParaRPr sz="3600" b="1">
              <a:solidFill>
                <a:srgbClr val="0B1F3A"/>
              </a:solidFill>
              <a:latin typeface="Aptos Displ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17C26-C396-8483-E378-183C0F9F281B}"/>
              </a:ext>
            </a:extLst>
          </p:cNvPr>
          <p:cNvSpPr txBox="1"/>
          <p:nvPr/>
        </p:nvSpPr>
        <p:spPr>
          <a:xfrm>
            <a:off x="11433229" y="6473952"/>
            <a:ext cx="45397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7A8699"/>
                </a:solidFill>
                <a:latin typeface="Aptos Display" panose="020B0004020202020204" pitchFamily="34" charset="0"/>
              </a:rPr>
              <a:t>10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8C9ABF0A-FB55-4292-3F87-3D7A1888AC61}"/>
              </a:ext>
            </a:extLst>
          </p:cNvPr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069902FC-2476-EF40-9042-D0ED7CB58FE3}"/>
              </a:ext>
            </a:extLst>
          </p:cNvPr>
          <p:cNvSpPr/>
          <p:nvPr/>
        </p:nvSpPr>
        <p:spPr>
          <a:xfrm>
            <a:off x="1215070" y="1717773"/>
            <a:ext cx="9761860" cy="144981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i="1" err="1">
                <a:solidFill>
                  <a:schemeClr val="tx1"/>
                </a:solidFill>
              </a:rPr>
              <a:t>Summary</a:t>
            </a:r>
            <a:r>
              <a:rPr lang="nb-NO" b="1" i="1">
                <a:solidFill>
                  <a:schemeClr val="tx1"/>
                </a:solidFill>
              </a:rPr>
              <a:t>:</a:t>
            </a:r>
            <a:r>
              <a:rPr lang="nb-NO" b="1">
                <a:solidFill>
                  <a:schemeClr val="tx1"/>
                </a:solidFill>
              </a:rPr>
              <a:t> </a:t>
            </a:r>
          </a:p>
          <a:p>
            <a:endParaRPr lang="nb-NO" b="1">
              <a:solidFill>
                <a:schemeClr val="tx1"/>
              </a:solidFill>
            </a:endParaRPr>
          </a:p>
          <a:p>
            <a:r>
              <a:rPr lang="nb-NO" b="1">
                <a:solidFill>
                  <a:schemeClr val="tx1"/>
                </a:solidFill>
              </a:rPr>
              <a:t>Selects k as </a:t>
            </a:r>
            <a:r>
              <a:rPr lang="nb-NO" b="1" err="1">
                <a:solidFill>
                  <a:schemeClr val="tx1"/>
                </a:solidFill>
              </a:rPr>
              <a:t>the</a:t>
            </a:r>
            <a:r>
              <a:rPr lang="nb-NO" b="1">
                <a:solidFill>
                  <a:schemeClr val="tx1"/>
                </a:solidFill>
              </a:rPr>
              <a:t> </a:t>
            </a:r>
            <a:r>
              <a:rPr lang="nb-NO" b="1" err="1">
                <a:solidFill>
                  <a:schemeClr val="tx1"/>
                </a:solidFill>
              </a:rPr>
              <a:t>smallest</a:t>
            </a:r>
            <a:r>
              <a:rPr lang="nb-NO" b="1">
                <a:solidFill>
                  <a:schemeClr val="tx1"/>
                </a:solidFill>
              </a:rPr>
              <a:t> </a:t>
            </a:r>
            <a:r>
              <a:rPr lang="nb-NO" b="1" err="1">
                <a:solidFill>
                  <a:schemeClr val="tx1"/>
                </a:solidFill>
              </a:rPr>
              <a:t>number</a:t>
            </a:r>
            <a:r>
              <a:rPr lang="nb-NO" b="1">
                <a:solidFill>
                  <a:schemeClr val="tx1"/>
                </a:solidFill>
              </a:rPr>
              <a:t> </a:t>
            </a:r>
            <a:r>
              <a:rPr lang="nb-NO" b="1" err="1">
                <a:solidFill>
                  <a:schemeClr val="tx1"/>
                </a:solidFill>
              </a:rPr>
              <a:t>of</a:t>
            </a:r>
            <a:r>
              <a:rPr lang="nb-NO" b="1">
                <a:solidFill>
                  <a:schemeClr val="tx1"/>
                </a:solidFill>
              </a:rPr>
              <a:t> </a:t>
            </a:r>
            <a:r>
              <a:rPr lang="nb-NO" b="1" err="1">
                <a:solidFill>
                  <a:schemeClr val="tx1"/>
                </a:solidFill>
              </a:rPr>
              <a:t>components</a:t>
            </a:r>
            <a:r>
              <a:rPr lang="nb-NO" b="1">
                <a:solidFill>
                  <a:schemeClr val="tx1"/>
                </a:solidFill>
              </a:rPr>
              <a:t> </a:t>
            </a:r>
            <a:r>
              <a:rPr lang="nb-NO" b="1" err="1">
                <a:solidFill>
                  <a:schemeClr val="tx1"/>
                </a:solidFill>
              </a:rPr>
              <a:t>whose</a:t>
            </a:r>
            <a:r>
              <a:rPr lang="nb-NO" b="1">
                <a:solidFill>
                  <a:schemeClr val="tx1"/>
                </a:solidFill>
              </a:rPr>
              <a:t> </a:t>
            </a:r>
            <a:r>
              <a:rPr lang="nb-NO" b="1" err="1">
                <a:solidFill>
                  <a:schemeClr val="tx1"/>
                </a:solidFill>
              </a:rPr>
              <a:t>eigenvalues</a:t>
            </a:r>
            <a:r>
              <a:rPr lang="nb-NO" b="1">
                <a:solidFill>
                  <a:schemeClr val="tx1"/>
                </a:solidFill>
              </a:rPr>
              <a:t> </a:t>
            </a:r>
            <a:r>
              <a:rPr lang="nb-NO" b="1" err="1">
                <a:solidFill>
                  <a:schemeClr val="tx1"/>
                </a:solidFill>
              </a:rPr>
              <a:t>account</a:t>
            </a:r>
            <a:r>
              <a:rPr lang="nb-NO" b="1">
                <a:solidFill>
                  <a:schemeClr val="tx1"/>
                </a:solidFill>
              </a:rPr>
              <a:t> for a </a:t>
            </a:r>
            <a:r>
              <a:rPr lang="nb-NO" b="1" err="1">
                <a:solidFill>
                  <a:schemeClr val="tx1"/>
                </a:solidFill>
              </a:rPr>
              <a:t>chosen</a:t>
            </a:r>
            <a:r>
              <a:rPr lang="nb-NO" b="1">
                <a:solidFill>
                  <a:schemeClr val="tx1"/>
                </a:solidFill>
              </a:rPr>
              <a:t> </a:t>
            </a:r>
            <a:r>
              <a:rPr lang="nb-NO" b="1" err="1">
                <a:solidFill>
                  <a:schemeClr val="tx1"/>
                </a:solidFill>
              </a:rPr>
              <a:t>fraction</a:t>
            </a:r>
            <a:r>
              <a:rPr lang="nb-NO" b="1">
                <a:solidFill>
                  <a:schemeClr val="tx1"/>
                </a:solidFill>
              </a:rPr>
              <a:t> τ </a:t>
            </a:r>
            <a:r>
              <a:rPr lang="nb-NO" b="1" err="1">
                <a:solidFill>
                  <a:schemeClr val="tx1"/>
                </a:solidFill>
              </a:rPr>
              <a:t>of</a:t>
            </a:r>
            <a:r>
              <a:rPr lang="nb-NO" b="1">
                <a:solidFill>
                  <a:schemeClr val="tx1"/>
                </a:solidFill>
              </a:rPr>
              <a:t> total </a:t>
            </a:r>
            <a:r>
              <a:rPr lang="nb-NO" b="1" err="1">
                <a:solidFill>
                  <a:schemeClr val="tx1"/>
                </a:solidFill>
              </a:rPr>
              <a:t>variance</a:t>
            </a:r>
            <a:r>
              <a:rPr lang="nb-NO" b="1">
                <a:solidFill>
                  <a:schemeClr val="tx1"/>
                </a:solidFill>
              </a:rPr>
              <a:t> in </a:t>
            </a:r>
            <a:r>
              <a:rPr lang="nb-NO" b="1" err="1">
                <a:solidFill>
                  <a:schemeClr val="tx1"/>
                </a:solidFill>
              </a:rPr>
              <a:t>X</a:t>
            </a:r>
            <a:r>
              <a:rPr lang="nb-NO" b="1">
                <a:solidFill>
                  <a:schemeClr val="tx1"/>
                </a:solidFill>
              </a:rPr>
              <a:t>.</a:t>
            </a:r>
          </a:p>
          <a:p>
            <a:pPr algn="ctr"/>
            <a:endParaRPr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59C4A27C-0C64-94FB-FD9B-B24B63D71479}"/>
              </a:ext>
            </a:extLst>
          </p:cNvPr>
          <p:cNvSpPr/>
          <p:nvPr/>
        </p:nvSpPr>
        <p:spPr>
          <a:xfrm>
            <a:off x="1215070" y="3429000"/>
            <a:ext cx="9761860" cy="266466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i="1" err="1">
                <a:solidFill>
                  <a:schemeClr val="tx1"/>
                </a:solidFill>
              </a:rPr>
              <a:t>Cons</a:t>
            </a:r>
            <a:r>
              <a:rPr lang="nb-NO" b="1" i="1">
                <a:solidFill>
                  <a:schemeClr val="tx1"/>
                </a:solidFill>
              </a:rPr>
              <a:t>:</a:t>
            </a:r>
            <a:r>
              <a:rPr lang="nb-NO" b="1">
                <a:solidFill>
                  <a:schemeClr val="tx1"/>
                </a:solidFill>
              </a:rPr>
              <a:t> </a:t>
            </a:r>
          </a:p>
          <a:p>
            <a:endParaRPr lang="nb-NO" b="1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Threshold τ is arbitrary, not data-driven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Measures variance retained — not task relevance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No guarantee discarded variance was noise</a:t>
            </a:r>
          </a:p>
        </p:txBody>
      </p:sp>
    </p:spTree>
    <p:extLst>
      <p:ext uri="{BB962C8B-B14F-4D97-AF65-F5344CB8AC3E}">
        <p14:creationId xmlns:p14="http://schemas.microsoft.com/office/powerpoint/2010/main" val="4013491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BDCD43-1B67-9803-F0D5-30F2524D2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4BA3CA-3AA3-8385-4CFC-7E9BC843A5E7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166AA-4F64-E74B-E856-3541481F6FDD}"/>
              </a:ext>
            </a:extLst>
          </p:cNvPr>
          <p:cNvSpPr txBox="1"/>
          <p:nvPr/>
        </p:nvSpPr>
        <p:spPr>
          <a:xfrm>
            <a:off x="502920" y="256032"/>
            <a:ext cx="912256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600" b="1" err="1">
                <a:solidFill>
                  <a:srgbClr val="0B1F3A"/>
                </a:solidFill>
                <a:latin typeface="Aptos Display"/>
              </a:rPr>
              <a:t>Summary</a:t>
            </a:r>
            <a:r>
              <a:rPr lang="nb-NO" sz="3600" b="1">
                <a:solidFill>
                  <a:srgbClr val="0B1F3A"/>
                </a:solidFill>
                <a:latin typeface="Aptos Display"/>
              </a:rPr>
              <a:t> and </a:t>
            </a:r>
            <a:r>
              <a:rPr lang="nb-NO" sz="3600" b="1" err="1">
                <a:solidFill>
                  <a:srgbClr val="0B1F3A"/>
                </a:solidFill>
                <a:latin typeface="Aptos Display"/>
              </a:rPr>
              <a:t>short-comings</a:t>
            </a:r>
            <a:r>
              <a:rPr lang="nb-NO" sz="3600" b="1">
                <a:solidFill>
                  <a:srgbClr val="0B1F3A"/>
                </a:solidFill>
                <a:latin typeface="Aptos Display"/>
              </a:rPr>
              <a:t>: </a:t>
            </a:r>
            <a:r>
              <a:rPr lang="nb-NO" sz="3600" b="1" err="1">
                <a:solidFill>
                  <a:srgbClr val="0B1F3A"/>
                </a:solidFill>
                <a:latin typeface="Aptos Display"/>
              </a:rPr>
              <a:t>elbow</a:t>
            </a:r>
            <a:r>
              <a:rPr lang="nb-NO" sz="3600" b="1">
                <a:solidFill>
                  <a:srgbClr val="0B1F3A"/>
                </a:solidFill>
                <a:latin typeface="Aptos Display"/>
              </a:rPr>
              <a:t> </a:t>
            </a:r>
            <a:r>
              <a:rPr lang="nb-NO" sz="3600" b="1" err="1">
                <a:solidFill>
                  <a:srgbClr val="0B1F3A"/>
                </a:solidFill>
                <a:latin typeface="Aptos Display"/>
              </a:rPr>
              <a:t>methods</a:t>
            </a:r>
            <a:endParaRPr sz="3600" b="1">
              <a:solidFill>
                <a:srgbClr val="0B1F3A"/>
              </a:solidFill>
              <a:latin typeface="Aptos Displ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89E89-2A4C-289E-9813-1AB5100DDD3E}"/>
              </a:ext>
            </a:extLst>
          </p:cNvPr>
          <p:cNvSpPr txBox="1"/>
          <p:nvPr/>
        </p:nvSpPr>
        <p:spPr>
          <a:xfrm>
            <a:off x="11433229" y="6473952"/>
            <a:ext cx="45397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7A8699"/>
                </a:solidFill>
                <a:latin typeface="Aptos Display" panose="020B0004020202020204" pitchFamily="34" charset="0"/>
              </a:rPr>
              <a:t>10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2351454C-A6E0-D558-5D84-A0A8D8B0A2D1}"/>
              </a:ext>
            </a:extLst>
          </p:cNvPr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C2C71ADF-CACE-B35C-014D-F3AFA7D3FD0A}"/>
              </a:ext>
            </a:extLst>
          </p:cNvPr>
          <p:cNvSpPr/>
          <p:nvPr/>
        </p:nvSpPr>
        <p:spPr>
          <a:xfrm>
            <a:off x="1215070" y="1713439"/>
            <a:ext cx="9761860" cy="145414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i="1" err="1">
                <a:solidFill>
                  <a:schemeClr val="tx1"/>
                </a:solidFill>
              </a:rPr>
              <a:t>Summary</a:t>
            </a:r>
            <a:r>
              <a:rPr lang="nb-NO" b="1" i="1">
                <a:solidFill>
                  <a:schemeClr val="tx1"/>
                </a:solidFill>
              </a:rPr>
              <a:t>:</a:t>
            </a:r>
            <a:r>
              <a:rPr lang="nb-NO" b="1">
                <a:solidFill>
                  <a:schemeClr val="tx1"/>
                </a:solidFill>
              </a:rPr>
              <a:t> </a:t>
            </a:r>
          </a:p>
          <a:p>
            <a:endParaRPr lang="nb-NO" b="1">
              <a:solidFill>
                <a:schemeClr val="tx1"/>
              </a:solidFill>
            </a:endParaRPr>
          </a:p>
          <a:p>
            <a:r>
              <a:rPr lang="en-US" b="1">
                <a:solidFill>
                  <a:schemeClr val="tx1"/>
                </a:solidFill>
              </a:rPr>
              <a:t>Assumes the eigenvalue spectrum separates into a "signal" regime (steep decay) and a "noise" regime (flat tail), and selects k at the transition point.</a:t>
            </a:r>
            <a:endParaRPr lang="nb-NO" b="1">
              <a:solidFill>
                <a:schemeClr val="tx1"/>
              </a:solidFill>
            </a:endParaRPr>
          </a:p>
          <a:p>
            <a:pPr algn="ctr"/>
            <a:endParaRPr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17D52081-466C-303D-2DE0-E40E85D61F7E}"/>
              </a:ext>
            </a:extLst>
          </p:cNvPr>
          <p:cNvSpPr/>
          <p:nvPr/>
        </p:nvSpPr>
        <p:spPr>
          <a:xfrm>
            <a:off x="1215070" y="3429000"/>
            <a:ext cx="9761860" cy="266466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i="1" err="1">
                <a:solidFill>
                  <a:schemeClr val="tx1"/>
                </a:solidFill>
              </a:rPr>
              <a:t>Cons</a:t>
            </a:r>
            <a:r>
              <a:rPr lang="nb-NO" b="1" i="1">
                <a:solidFill>
                  <a:schemeClr val="tx1"/>
                </a:solidFill>
              </a:rPr>
              <a:t>:</a:t>
            </a:r>
            <a:r>
              <a:rPr lang="nb-NO" b="1">
                <a:solidFill>
                  <a:schemeClr val="tx1"/>
                </a:solidFill>
              </a:rPr>
              <a:t> </a:t>
            </a:r>
          </a:p>
          <a:p>
            <a:endParaRPr lang="nb-NO" b="1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"Knee" only sharp under specific theoretical conditions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Different elbow methods often disagree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Descriptive, not optimality-based</a:t>
            </a:r>
          </a:p>
        </p:txBody>
      </p:sp>
    </p:spTree>
    <p:extLst>
      <p:ext uri="{BB962C8B-B14F-4D97-AF65-F5344CB8AC3E}">
        <p14:creationId xmlns:p14="http://schemas.microsoft.com/office/powerpoint/2010/main" val="273091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7FAF5F8-8D1D-A49A-442D-A9085387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CE7E22-2F44-32DC-142F-541E10D44EFC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F29AB6-E1E2-5574-41BA-DA277A8F8B4A}"/>
              </a:ext>
            </a:extLst>
          </p:cNvPr>
          <p:cNvSpPr txBox="1"/>
          <p:nvPr/>
        </p:nvSpPr>
        <p:spPr>
          <a:xfrm>
            <a:off x="502920" y="256032"/>
            <a:ext cx="905363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600" b="1" err="1">
                <a:solidFill>
                  <a:srgbClr val="0B1F3A"/>
                </a:solidFill>
                <a:latin typeface="Aptos Display"/>
              </a:rPr>
              <a:t>Summary</a:t>
            </a:r>
            <a:r>
              <a:rPr lang="nb-NO" sz="3600" b="1">
                <a:solidFill>
                  <a:srgbClr val="0B1F3A"/>
                </a:solidFill>
                <a:latin typeface="Aptos Display"/>
              </a:rPr>
              <a:t> and </a:t>
            </a:r>
            <a:r>
              <a:rPr lang="nb-NO" sz="3600" b="1" err="1">
                <a:solidFill>
                  <a:srgbClr val="0B1F3A"/>
                </a:solidFill>
                <a:latin typeface="Aptos Display"/>
              </a:rPr>
              <a:t>short-comings</a:t>
            </a:r>
            <a:r>
              <a:rPr lang="nb-NO" sz="3600" b="1">
                <a:solidFill>
                  <a:srgbClr val="0B1F3A"/>
                </a:solidFill>
                <a:latin typeface="Aptos Display"/>
              </a:rPr>
              <a:t>: Kaiser </a:t>
            </a:r>
            <a:r>
              <a:rPr lang="nb-NO" sz="3600" b="1" err="1">
                <a:solidFill>
                  <a:srgbClr val="0B1F3A"/>
                </a:solidFill>
                <a:latin typeface="Aptos Display"/>
              </a:rPr>
              <a:t>criterion</a:t>
            </a:r>
            <a:endParaRPr sz="3600" b="1">
              <a:solidFill>
                <a:srgbClr val="0B1F3A"/>
              </a:solidFill>
              <a:latin typeface="Aptos Displ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39174-E180-1EBC-5722-2F786F6A32BD}"/>
              </a:ext>
            </a:extLst>
          </p:cNvPr>
          <p:cNvSpPr txBox="1"/>
          <p:nvPr/>
        </p:nvSpPr>
        <p:spPr>
          <a:xfrm>
            <a:off x="11433229" y="6473952"/>
            <a:ext cx="45397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7A8699"/>
                </a:solidFill>
                <a:latin typeface="Aptos Display" panose="020B0004020202020204" pitchFamily="34" charset="0"/>
              </a:rPr>
              <a:t>10</a:t>
            </a: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37DC034C-629D-E28D-0A26-36709FD7CC93}"/>
              </a:ext>
            </a:extLst>
          </p:cNvPr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ED95E703-B757-B575-DD22-DD90EF410B40}"/>
              </a:ext>
            </a:extLst>
          </p:cNvPr>
          <p:cNvSpPr/>
          <p:nvPr/>
        </p:nvSpPr>
        <p:spPr>
          <a:xfrm>
            <a:off x="1215070" y="1597356"/>
            <a:ext cx="9761860" cy="157023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i="1" err="1">
                <a:solidFill>
                  <a:schemeClr val="tx1"/>
                </a:solidFill>
              </a:rPr>
              <a:t>Summary</a:t>
            </a:r>
            <a:r>
              <a:rPr lang="nb-NO" b="1" i="1">
                <a:solidFill>
                  <a:schemeClr val="tx1"/>
                </a:solidFill>
              </a:rPr>
              <a:t>:</a:t>
            </a:r>
            <a:r>
              <a:rPr lang="nb-NO" b="1">
                <a:solidFill>
                  <a:schemeClr val="tx1"/>
                </a:solidFill>
              </a:rPr>
              <a:t> </a:t>
            </a:r>
          </a:p>
          <a:p>
            <a:endParaRPr lang="nb-NO" b="1">
              <a:solidFill>
                <a:schemeClr val="tx1"/>
              </a:solidFill>
            </a:endParaRPr>
          </a:p>
          <a:p>
            <a:r>
              <a:rPr lang="en-US" b="1">
                <a:solidFill>
                  <a:schemeClr val="tx1"/>
                </a:solidFill>
              </a:rPr>
              <a:t>Retains components whose eigenvalue exceeds the average variance of a single standardized variable, under the reasoning that such a component explains "more than one variable's worth" of variance.</a:t>
            </a:r>
            <a:endParaRPr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B8F7F23B-D80D-2C26-9711-3834B3B32A38}"/>
              </a:ext>
            </a:extLst>
          </p:cNvPr>
          <p:cNvSpPr/>
          <p:nvPr/>
        </p:nvSpPr>
        <p:spPr>
          <a:xfrm>
            <a:off x="1215070" y="3429000"/>
            <a:ext cx="9761860" cy="266466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i="1" err="1">
                <a:solidFill>
                  <a:schemeClr val="tx1"/>
                </a:solidFill>
              </a:rPr>
              <a:t>Cons</a:t>
            </a:r>
            <a:r>
              <a:rPr lang="nb-NO" b="1" i="1">
                <a:solidFill>
                  <a:schemeClr val="tx1"/>
                </a:solidFill>
              </a:rPr>
              <a:t>:</a:t>
            </a:r>
            <a:r>
              <a:rPr lang="nb-NO" b="1">
                <a:solidFill>
                  <a:schemeClr val="tx1"/>
                </a:solidFill>
              </a:rPr>
              <a:t> </a:t>
            </a:r>
          </a:p>
          <a:p>
            <a:endParaRPr lang="nb-NO" b="1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Only valid for standardized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Ignores sample size — no reliability check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Over-selects as dimensionality (p) grows</a:t>
            </a:r>
          </a:p>
        </p:txBody>
      </p:sp>
    </p:spTree>
    <p:extLst>
      <p:ext uri="{BB962C8B-B14F-4D97-AF65-F5344CB8AC3E}">
        <p14:creationId xmlns:p14="http://schemas.microsoft.com/office/powerpoint/2010/main" val="3380513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41939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F3A"/>
                </a:solidFill>
                <a:latin typeface="Aptos Display"/>
              </a:rPr>
              <a:t>Message 3: validate the complete predictive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18537" y="6461714"/>
            <a:ext cx="3000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a-IR" sz="800">
                <a:solidFill>
                  <a:srgbClr val="7A8699"/>
                </a:solidFill>
                <a:latin typeface="Aptos"/>
              </a:rPr>
              <a:t>12</a:t>
            </a:r>
            <a:endParaRPr sz="800">
              <a:solidFill>
                <a:srgbClr val="7A8699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344168" y="1115568"/>
            <a:ext cx="1417320" cy="646331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0B1F3A"/>
                </a:solidFill>
                <a:latin typeface="Aptos"/>
              </a:rPr>
              <a:t>Training
fold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2788920" y="1572768"/>
            <a:ext cx="356616" cy="0"/>
          </a:xfrm>
          <a:prstGeom prst="line">
            <a:avLst/>
          </a:prstGeom>
          <a:ln w="20320">
            <a:solidFill>
              <a:srgbClr val="7A8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18688" y="1115568"/>
            <a:ext cx="1417320" cy="646331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0B1F3A"/>
                </a:solidFill>
                <a:latin typeface="Aptos"/>
              </a:rPr>
              <a:t>Scale
features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4663440" y="1572768"/>
            <a:ext cx="356616" cy="0"/>
          </a:xfrm>
          <a:prstGeom prst="line">
            <a:avLst/>
          </a:prstGeom>
          <a:ln w="20320">
            <a:solidFill>
              <a:srgbClr val="7A8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93208" y="1115568"/>
            <a:ext cx="1417320" cy="646331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0B1F3A"/>
                </a:solidFill>
                <a:latin typeface="Aptos"/>
              </a:rPr>
              <a:t>Fit
PCA(k)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6537960" y="1572768"/>
            <a:ext cx="356616" cy="0"/>
          </a:xfrm>
          <a:prstGeom prst="line">
            <a:avLst/>
          </a:prstGeom>
          <a:ln w="20320">
            <a:solidFill>
              <a:srgbClr val="7A8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67728" y="1115568"/>
            <a:ext cx="1417320" cy="646331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0B1F3A"/>
                </a:solidFill>
                <a:latin typeface="Aptos"/>
              </a:rPr>
              <a:t>Fit
classifier</a:t>
            </a: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8412480" y="1572768"/>
            <a:ext cx="356616" cy="0"/>
          </a:xfrm>
          <a:prstGeom prst="line">
            <a:avLst/>
          </a:prstGeom>
          <a:ln w="20320">
            <a:solidFill>
              <a:srgbClr val="7A8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42247" y="1115568"/>
            <a:ext cx="2080063" cy="646331"/>
          </a:xfrm>
          <a:prstGeom prst="roundRect">
            <a:avLst/>
          </a:prstGeom>
          <a:solidFill>
            <a:srgbClr val="FDF5EF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D55E00"/>
                </a:solidFill>
                <a:latin typeface="Aptos"/>
              </a:rPr>
              <a:t>Evaluate
validation fold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2991" y="1925784"/>
            <a:ext cx="8997120" cy="454861"/>
          </a:xfrm>
          <a:prstGeom prst="roundRect">
            <a:avLst/>
          </a:prstGeom>
          <a:solidFill>
            <a:srgbClr val="FDF5EF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b="1">
                <a:solidFill>
                  <a:srgbClr val="D55E00"/>
                </a:solidFill>
                <a:latin typeface="Aptos"/>
              </a:rPr>
              <a:t>Repeat this for every candidate k and keep preprocessing inside each fold.</a:t>
            </a: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ABC1F2D1-8882-79EB-37B9-627D79FD23EB}"/>
              </a:ext>
            </a:extLst>
          </p:cNvPr>
          <p:cNvSpPr/>
          <p:nvPr/>
        </p:nvSpPr>
        <p:spPr>
          <a:xfrm>
            <a:off x="8101584" y="4173281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>
                <a:solidFill>
                  <a:srgbClr val="D55E0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Maximum rule</a:t>
            </a:r>
            <a:endParaRPr lang="en-US" sz="2400">
              <a:solidFill>
                <a:srgbClr val="D55E00"/>
              </a:solidFill>
              <a:latin typeface="Aptos Display" panose="020B0004020202020204" pitchFamily="34" charset="0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C5F7ED0A-B32F-E0FD-A34F-4BBB222A9A52}"/>
              </a:ext>
            </a:extLst>
          </p:cNvPr>
          <p:cNvSpPr/>
          <p:nvPr/>
        </p:nvSpPr>
        <p:spPr>
          <a:xfrm>
            <a:off x="8101584" y="4676201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Choose the k with the highest average validation score.</a:t>
            </a:r>
            <a:endParaRPr lang="en-US" sz="2000">
              <a:latin typeface="Aptos Display" panose="020B0004020202020204" pitchFamily="34" charset="0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53EC9007-CB2A-7967-C39A-2A5536A927BE}"/>
              </a:ext>
            </a:extLst>
          </p:cNvPr>
          <p:cNvSpPr/>
          <p:nvPr/>
        </p:nvSpPr>
        <p:spPr>
          <a:xfrm>
            <a:off x="8132064" y="2809151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>
                <a:solidFill>
                  <a:srgbClr val="D55E00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One-SE rule</a:t>
            </a:r>
            <a:endParaRPr lang="en-US" sz="2400">
              <a:solidFill>
                <a:srgbClr val="D55E00"/>
              </a:solidFill>
              <a:latin typeface="Aptos Display" panose="020B0004020202020204" pitchFamily="34" charset="0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BB54DC7D-F286-897E-27F5-F2EC1B27D7CE}"/>
              </a:ext>
            </a:extLst>
          </p:cNvPr>
          <p:cNvSpPr/>
          <p:nvPr/>
        </p:nvSpPr>
        <p:spPr>
          <a:xfrm>
            <a:off x="8101584" y="3277169"/>
            <a:ext cx="41427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>
                <a:solidFill>
                  <a:srgbClr val="182033"/>
                </a:solidFill>
                <a:latin typeface="Aptos Display" panose="020B0004020202020204" pitchFamily="34" charset="0"/>
                <a:ea typeface="DejaVu Sans" pitchFamily="34" charset="-122"/>
                <a:cs typeface="DejaVu Sans" pitchFamily="34" charset="-120"/>
              </a:rPr>
              <a:t>Choose the smallest k whose score is still within one standard error of the best.</a:t>
            </a:r>
            <a:endParaRPr lang="en-US" sz="2000">
              <a:latin typeface="Aptos Display" panose="020B0004020202020204" pitchFamily="34" charset="0"/>
            </a:endParaRPr>
          </a:p>
        </p:txBody>
      </p:sp>
      <p:pic>
        <p:nvPicPr>
          <p:cNvPr id="27" name="Picture 26" descr="cv_accuracy.png">
            <a:extLst>
              <a:ext uri="{FF2B5EF4-FFF2-40B4-BE49-F238E27FC236}">
                <a16:creationId xmlns:a16="http://schemas.microsoft.com/office/drawing/2014/main" id="{700C1272-F843-DB6C-A49F-7C9532F07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28626"/>
            <a:ext cx="7225349" cy="374647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3502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F3A"/>
                </a:solidFill>
                <a:latin typeface="Aptos Display"/>
              </a:rPr>
              <a:t>All rules on one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90323" y="6473952"/>
            <a:ext cx="29687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A8699"/>
                </a:solidFill>
                <a:latin typeface="Aptos"/>
              </a:rPr>
              <a:t>1</a:t>
            </a:r>
            <a:r>
              <a:rPr lang="fa-IR" sz="800">
                <a:solidFill>
                  <a:srgbClr val="7A8699"/>
                </a:solidFill>
                <a:latin typeface="Aptos"/>
              </a:rPr>
              <a:t>3</a:t>
            </a:r>
            <a:endParaRPr sz="800">
              <a:solidFill>
                <a:srgbClr val="7A8699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28936"/>
            <a:ext cx="8138160" cy="444584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31469" y="449176"/>
            <a:ext cx="3459577" cy="3819966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26815" y="655517"/>
            <a:ext cx="2745384" cy="455509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What the scale says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12539" y="1215540"/>
            <a:ext cx="1773936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75186" y="1471489"/>
            <a:ext cx="3015859" cy="6617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2000">
                <a:solidFill>
                  <a:srgbClr val="495057"/>
                </a:solidFill>
                <a:latin typeface="Aptos"/>
              </a:rPr>
              <a:t>Interpretation methods favor smaller k (9</a:t>
            </a:r>
            <a:r>
              <a:rPr lang="fa-IR" sz="2000">
                <a:solidFill>
                  <a:srgbClr val="495057"/>
                </a:solidFill>
                <a:latin typeface="Aptos"/>
              </a:rPr>
              <a:t> </a:t>
            </a:r>
            <a:r>
              <a:rPr sz="2000">
                <a:solidFill>
                  <a:srgbClr val="495057"/>
                </a:solidFill>
                <a:latin typeface="Aptos"/>
              </a:rPr>
              <a:t>–</a:t>
            </a:r>
            <a:r>
              <a:rPr lang="fa-IR" sz="2000">
                <a:solidFill>
                  <a:srgbClr val="495057"/>
                </a:solidFill>
                <a:latin typeface="Aptos"/>
              </a:rPr>
              <a:t> </a:t>
            </a:r>
            <a:r>
              <a:rPr sz="2000">
                <a:solidFill>
                  <a:srgbClr val="495057"/>
                </a:solidFill>
                <a:latin typeface="Aptos"/>
              </a:rPr>
              <a:t>17)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11762" y="2304520"/>
            <a:ext cx="2775437" cy="6617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2000">
                <a:solidFill>
                  <a:srgbClr val="495057"/>
                </a:solidFill>
                <a:latin typeface="Aptos"/>
              </a:rPr>
              <a:t>Variance thresholds give medium k (21–</a:t>
            </a:r>
            <a:r>
              <a:rPr lang="fa-IR" sz="2000">
                <a:solidFill>
                  <a:srgbClr val="495057"/>
                </a:solidFill>
                <a:latin typeface="Aptos"/>
              </a:rPr>
              <a:t> </a:t>
            </a:r>
            <a:r>
              <a:rPr sz="2000">
                <a:solidFill>
                  <a:srgbClr val="495057"/>
                </a:solidFill>
                <a:latin typeface="Aptos"/>
              </a:rPr>
              <a:t>40)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1762" y="3289847"/>
            <a:ext cx="2916033" cy="6617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l"/>
            <a:r>
              <a:rPr sz="2000">
                <a:solidFill>
                  <a:srgbClr val="495057"/>
                </a:solidFill>
                <a:latin typeface="Aptos"/>
              </a:rPr>
              <a:t>Prediction prefers larger k (45</a:t>
            </a:r>
            <a:r>
              <a:rPr lang="fa-IR" sz="2000">
                <a:solidFill>
                  <a:srgbClr val="495057"/>
                </a:solidFill>
                <a:latin typeface="Aptos"/>
              </a:rPr>
              <a:t> </a:t>
            </a:r>
            <a:r>
              <a:rPr sz="2000">
                <a:solidFill>
                  <a:srgbClr val="495057"/>
                </a:solidFill>
                <a:latin typeface="Aptos"/>
              </a:rPr>
              <a:t>–</a:t>
            </a:r>
            <a:r>
              <a:rPr lang="fa-IR" sz="2000">
                <a:solidFill>
                  <a:srgbClr val="495057"/>
                </a:solidFill>
                <a:latin typeface="Aptos"/>
              </a:rPr>
              <a:t> </a:t>
            </a:r>
            <a:r>
              <a:rPr sz="2000">
                <a:solidFill>
                  <a:srgbClr val="495057"/>
                </a:solidFill>
                <a:latin typeface="Aptos"/>
              </a:rPr>
              <a:t>53)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489EA463-4F8D-81A9-CB99-FDF5B1CC32BF}"/>
              </a:ext>
            </a:extLst>
          </p:cNvPr>
          <p:cNvSpPr/>
          <p:nvPr/>
        </p:nvSpPr>
        <p:spPr>
          <a:xfrm>
            <a:off x="929640" y="3934813"/>
            <a:ext cx="10332720" cy="914400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687906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B1F3A"/>
                </a:solidFill>
                <a:latin typeface="Aptos Display"/>
              </a:rPr>
              <a:t>Summary: ask “enough for what?”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7117" y="6473952"/>
            <a:ext cx="3000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a-IR" sz="800">
                <a:solidFill>
                  <a:srgbClr val="7A8699"/>
                </a:solidFill>
                <a:latin typeface="Aptos"/>
              </a:rPr>
              <a:t>14</a:t>
            </a:r>
            <a:endParaRPr sz="800">
              <a:solidFill>
                <a:srgbClr val="7A8699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1325880"/>
            <a:ext cx="10332720" cy="914400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Oval 7"/>
          <p:cNvSpPr/>
          <p:nvPr/>
        </p:nvSpPr>
        <p:spPr>
          <a:xfrm>
            <a:off x="1078992" y="1536192"/>
            <a:ext cx="384048" cy="384048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31915"/>
            <a:ext cx="2535858" cy="517065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0580" y="1464731"/>
            <a:ext cx="4967463" cy="455509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  <a:latin typeface="Aptos"/>
              </a:rPr>
              <a:t>Use scree / Kaiser as simple heuristics.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24328"/>
            <a:ext cx="10332720" cy="914400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Oval 12"/>
          <p:cNvSpPr/>
          <p:nvPr/>
        </p:nvSpPr>
        <p:spPr>
          <a:xfrm>
            <a:off x="1078992" y="2834640"/>
            <a:ext cx="384048" cy="384048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61636"/>
            <a:ext cx="2349484" cy="517065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Compression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0580" y="2761636"/>
            <a:ext cx="5043178" cy="455509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  <a:latin typeface="Aptos"/>
              </a:rPr>
              <a:t>Choose an explicit variance threshold.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5544" y="4060823"/>
            <a:ext cx="1920240" cy="517065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0580" y="4127194"/>
            <a:ext cx="5655768" cy="455509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ctr">
            <a:spAutoFit/>
          </a:bodyPr>
          <a:lstStyle/>
          <a:p>
            <a:pPr algn="l"/>
            <a:r>
              <a:rPr sz="2000" b="0">
                <a:solidFill>
                  <a:srgbClr val="495057"/>
                </a:solidFill>
                <a:latin typeface="Aptos"/>
              </a:rPr>
              <a:t>Cross-validate the full PCA + model pipeline.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799" y="5017162"/>
            <a:ext cx="8369381" cy="830335"/>
          </a:xfrm>
          <a:prstGeom prst="roundRect">
            <a:avLst/>
          </a:prstGeom>
          <a:solidFill>
            <a:srgbClr val="FDF5EF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D55E00"/>
                </a:solidFill>
                <a:latin typeface="Aptos"/>
              </a:rPr>
              <a:t>Take-home: the best k is the one that matches the job you want PCA to do.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E7BFBBC-B5F0-8309-8483-F5D3916E9674}"/>
              </a:ext>
            </a:extLst>
          </p:cNvPr>
          <p:cNvSpPr/>
          <p:nvPr/>
        </p:nvSpPr>
        <p:spPr>
          <a:xfrm>
            <a:off x="1115568" y="4105656"/>
            <a:ext cx="384048" cy="384048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fa-IR" sz="2000" b="1">
                <a:solidFill>
                  <a:srgbClr val="FFFFFF"/>
                </a:solidFill>
                <a:latin typeface="Aptos"/>
              </a:rPr>
              <a:t>3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BC739-3C51-59F8-A69C-370C092E5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03A7FC-C37B-6D1F-4CE5-DFDB9DF5A415}"/>
              </a:ext>
            </a:extLst>
          </p:cNvPr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12E9AA-5517-D843-4BAD-88C8F69F41B8}"/>
              </a:ext>
            </a:extLst>
          </p:cNvPr>
          <p:cNvSpPr txBox="1"/>
          <p:nvPr/>
        </p:nvSpPr>
        <p:spPr>
          <a:xfrm>
            <a:off x="502920" y="256032"/>
            <a:ext cx="179049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b-NO" sz="3600" b="1">
                <a:solidFill>
                  <a:srgbClr val="0B1F3A"/>
                </a:solidFill>
                <a:latin typeface="Aptos Display"/>
              </a:rPr>
              <a:t>Sources</a:t>
            </a:r>
            <a:endParaRPr sz="3600" b="1">
              <a:solidFill>
                <a:srgbClr val="0B1F3A"/>
              </a:solidFill>
              <a:latin typeface="Aptos Displ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72A40-2961-AD1A-B355-A2E8B570EC81}"/>
              </a:ext>
            </a:extLst>
          </p:cNvPr>
          <p:cNvSpPr txBox="1"/>
          <p:nvPr/>
        </p:nvSpPr>
        <p:spPr>
          <a:xfrm>
            <a:off x="11587117" y="6473952"/>
            <a:ext cx="3000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fa-IR" sz="800">
                <a:solidFill>
                  <a:srgbClr val="7A8699"/>
                </a:solidFill>
                <a:latin typeface="Aptos"/>
              </a:rPr>
              <a:t>14</a:t>
            </a:r>
            <a:endParaRPr sz="800">
              <a:solidFill>
                <a:srgbClr val="7A8699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8380C69-8876-63C9-A10E-E576AA188501}"/>
              </a:ext>
            </a:extLst>
          </p:cNvPr>
          <p:cNvCxnSpPr/>
          <p:nvPr/>
        </p:nvCxnSpPr>
        <p:spPr>
          <a:xfrm>
            <a:off x="502920" y="6355080"/>
            <a:ext cx="11109960" cy="0"/>
          </a:xfrm>
          <a:prstGeom prst="line">
            <a:avLst/>
          </a:prstGeom>
          <a:ln w="12700">
            <a:solidFill>
              <a:srgbClr val="E1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445BC37-E33A-E6E7-A97E-64E10C2B39D6}"/>
              </a:ext>
            </a:extLst>
          </p:cNvPr>
          <p:cNvSpPr/>
          <p:nvPr/>
        </p:nvSpPr>
        <p:spPr>
          <a:xfrm>
            <a:off x="868680" y="1325880"/>
            <a:ext cx="10332720" cy="4213072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sz="1400" err="1">
                <a:solidFill>
                  <a:schemeClr val="tx1"/>
                </a:solidFill>
              </a:rPr>
              <a:t>Alpaydin</a:t>
            </a:r>
            <a:r>
              <a:rPr lang="nb-NO" sz="1400">
                <a:solidFill>
                  <a:schemeClr val="tx1"/>
                </a:solidFill>
              </a:rPr>
              <a:t>, E. &amp; </a:t>
            </a:r>
            <a:r>
              <a:rPr lang="nb-NO" sz="1400" err="1">
                <a:solidFill>
                  <a:schemeClr val="tx1"/>
                </a:solidFill>
              </a:rPr>
              <a:t>Kaynak</a:t>
            </a:r>
            <a:r>
              <a:rPr lang="nb-NO" sz="1400">
                <a:solidFill>
                  <a:schemeClr val="tx1"/>
                </a:solidFill>
              </a:rPr>
              <a:t>, C. (1998). Optical </a:t>
            </a:r>
            <a:r>
              <a:rPr lang="nb-NO" sz="1400" err="1">
                <a:solidFill>
                  <a:schemeClr val="tx1"/>
                </a:solidFill>
              </a:rPr>
              <a:t>Recognition</a:t>
            </a:r>
            <a:r>
              <a:rPr lang="nb-NO" sz="1400">
                <a:solidFill>
                  <a:schemeClr val="tx1"/>
                </a:solidFill>
              </a:rPr>
              <a:t> </a:t>
            </a:r>
            <a:r>
              <a:rPr lang="nb-NO" sz="1400" err="1">
                <a:solidFill>
                  <a:schemeClr val="tx1"/>
                </a:solidFill>
              </a:rPr>
              <a:t>of</a:t>
            </a:r>
            <a:r>
              <a:rPr lang="nb-NO" sz="1400">
                <a:solidFill>
                  <a:schemeClr val="tx1"/>
                </a:solidFill>
              </a:rPr>
              <a:t> </a:t>
            </a:r>
            <a:r>
              <a:rPr lang="nb-NO" sz="1400" err="1">
                <a:solidFill>
                  <a:schemeClr val="tx1"/>
                </a:solidFill>
              </a:rPr>
              <a:t>Handwritten</a:t>
            </a:r>
            <a:r>
              <a:rPr lang="nb-NO" sz="1400">
                <a:solidFill>
                  <a:schemeClr val="tx1"/>
                </a:solidFill>
              </a:rPr>
              <a:t> </a:t>
            </a:r>
            <a:r>
              <a:rPr lang="nb-NO" sz="1400" err="1">
                <a:solidFill>
                  <a:schemeClr val="tx1"/>
                </a:solidFill>
              </a:rPr>
              <a:t>Digits</a:t>
            </a:r>
            <a:r>
              <a:rPr lang="nb-NO" sz="1400">
                <a:solidFill>
                  <a:schemeClr val="tx1"/>
                </a:solidFill>
              </a:rPr>
              <a:t> [</a:t>
            </a:r>
            <a:r>
              <a:rPr lang="nb-NO" sz="1400" err="1">
                <a:solidFill>
                  <a:schemeClr val="tx1"/>
                </a:solidFill>
              </a:rPr>
              <a:t>Dataset</a:t>
            </a:r>
            <a:r>
              <a:rPr lang="nb-NO" sz="1400">
                <a:solidFill>
                  <a:schemeClr val="tx1"/>
                </a:solidFill>
              </a:rPr>
              <a:t>]. UCI Machine Learning </a:t>
            </a:r>
            <a:r>
              <a:rPr lang="nb-NO" sz="1400" err="1">
                <a:solidFill>
                  <a:schemeClr val="tx1"/>
                </a:solidFill>
              </a:rPr>
              <a:t>Repository</a:t>
            </a:r>
            <a:r>
              <a:rPr lang="nb-NO" sz="1400">
                <a:solidFill>
                  <a:schemeClr val="tx1"/>
                </a:solidFill>
              </a:rPr>
              <a:t>. https://doi.org/10.24432/C50P49</a:t>
            </a:r>
          </a:p>
          <a:p>
            <a:endParaRPr lang="nb-NO" sz="1400">
              <a:solidFill>
                <a:schemeClr val="tx1"/>
              </a:solidFill>
            </a:endParaRPr>
          </a:p>
          <a:p>
            <a:r>
              <a:rPr lang="nb-NO" sz="1400" err="1">
                <a:solidFill>
                  <a:schemeClr val="tx1"/>
                </a:solidFill>
              </a:rPr>
              <a:t>Pedregosa</a:t>
            </a:r>
            <a:r>
              <a:rPr lang="nb-NO" sz="1400">
                <a:solidFill>
                  <a:schemeClr val="tx1"/>
                </a:solidFill>
              </a:rPr>
              <a:t>, F. et al. (2011). </a:t>
            </a:r>
            <a:r>
              <a:rPr lang="nb-NO" sz="1400" err="1">
                <a:solidFill>
                  <a:schemeClr val="tx1"/>
                </a:solidFill>
              </a:rPr>
              <a:t>Scikit-learn</a:t>
            </a:r>
            <a:r>
              <a:rPr lang="nb-NO" sz="1400">
                <a:solidFill>
                  <a:schemeClr val="tx1"/>
                </a:solidFill>
              </a:rPr>
              <a:t>: Machine Learning in Python. Journal </a:t>
            </a:r>
            <a:r>
              <a:rPr lang="nb-NO" sz="1400" err="1">
                <a:solidFill>
                  <a:schemeClr val="tx1"/>
                </a:solidFill>
              </a:rPr>
              <a:t>of</a:t>
            </a:r>
            <a:r>
              <a:rPr lang="nb-NO" sz="1400">
                <a:solidFill>
                  <a:schemeClr val="tx1"/>
                </a:solidFill>
              </a:rPr>
              <a:t> Machine Learning Research, 12, 2825–2830. https://jmlr.org/papers/v12/pedregosa11a.html</a:t>
            </a:r>
          </a:p>
          <a:p>
            <a:endParaRPr lang="nb-NO" sz="1400">
              <a:solidFill>
                <a:schemeClr val="tx1"/>
              </a:solidFill>
            </a:endParaRPr>
          </a:p>
          <a:p>
            <a:r>
              <a:rPr lang="nb-NO" sz="1400" err="1">
                <a:solidFill>
                  <a:schemeClr val="tx1"/>
                </a:solidFill>
              </a:rPr>
              <a:t>Scikit-learn</a:t>
            </a:r>
            <a:r>
              <a:rPr lang="nb-NO" sz="1400">
                <a:solidFill>
                  <a:schemeClr val="tx1"/>
                </a:solidFill>
              </a:rPr>
              <a:t> </a:t>
            </a:r>
            <a:r>
              <a:rPr lang="nb-NO" sz="1400" err="1">
                <a:solidFill>
                  <a:schemeClr val="tx1"/>
                </a:solidFill>
              </a:rPr>
              <a:t>developers</a:t>
            </a:r>
            <a:r>
              <a:rPr lang="nb-NO" sz="1400">
                <a:solidFill>
                  <a:schemeClr val="tx1"/>
                </a:solidFill>
              </a:rPr>
              <a:t>. (2026). </a:t>
            </a:r>
            <a:r>
              <a:rPr lang="nb-NO" sz="1400" err="1">
                <a:solidFill>
                  <a:schemeClr val="tx1"/>
                </a:solidFill>
              </a:rPr>
              <a:t>load_digits</a:t>
            </a:r>
            <a:r>
              <a:rPr lang="nb-NO" sz="1400">
                <a:solidFill>
                  <a:schemeClr val="tx1"/>
                </a:solidFill>
              </a:rPr>
              <a:t> — </a:t>
            </a:r>
            <a:r>
              <a:rPr lang="nb-NO" sz="1400" err="1">
                <a:solidFill>
                  <a:schemeClr val="tx1"/>
                </a:solidFill>
              </a:rPr>
              <a:t>scikit-learn</a:t>
            </a:r>
            <a:r>
              <a:rPr lang="nb-NO" sz="1400">
                <a:solidFill>
                  <a:schemeClr val="tx1"/>
                </a:solidFill>
              </a:rPr>
              <a:t> </a:t>
            </a:r>
            <a:r>
              <a:rPr lang="nb-NO" sz="1400" err="1">
                <a:solidFill>
                  <a:schemeClr val="tx1"/>
                </a:solidFill>
              </a:rPr>
              <a:t>documentation</a:t>
            </a:r>
            <a:r>
              <a:rPr lang="nb-NO" sz="1400">
                <a:solidFill>
                  <a:schemeClr val="tx1"/>
                </a:solidFill>
              </a:rPr>
              <a:t>. https://scikit-learn.org/stable/modules/generated/sklearn.datasets.load_digits.html</a:t>
            </a:r>
          </a:p>
          <a:p>
            <a:endParaRPr lang="nb-NO" sz="1400">
              <a:solidFill>
                <a:schemeClr val="tx1"/>
              </a:solidFill>
            </a:endParaRPr>
          </a:p>
          <a:p>
            <a:r>
              <a:rPr lang="nb-NO" sz="1400" err="1">
                <a:solidFill>
                  <a:schemeClr val="tx1"/>
                </a:solidFill>
              </a:rPr>
              <a:t>Satopaa</a:t>
            </a:r>
            <a:r>
              <a:rPr lang="nb-NO" sz="1400">
                <a:solidFill>
                  <a:schemeClr val="tx1"/>
                </a:solidFill>
              </a:rPr>
              <a:t>, V., Albrecht, J., Irwin, D. &amp; </a:t>
            </a:r>
            <a:r>
              <a:rPr lang="nb-NO" sz="1400" err="1">
                <a:solidFill>
                  <a:schemeClr val="tx1"/>
                </a:solidFill>
              </a:rPr>
              <a:t>Raghavan</a:t>
            </a:r>
            <a:r>
              <a:rPr lang="nb-NO" sz="1400">
                <a:solidFill>
                  <a:schemeClr val="tx1"/>
                </a:solidFill>
              </a:rPr>
              <a:t>, B. (2011). </a:t>
            </a:r>
            <a:r>
              <a:rPr lang="nb-NO" sz="1400" err="1">
                <a:solidFill>
                  <a:schemeClr val="tx1"/>
                </a:solidFill>
              </a:rPr>
              <a:t>Finding</a:t>
            </a:r>
            <a:r>
              <a:rPr lang="nb-NO" sz="1400">
                <a:solidFill>
                  <a:schemeClr val="tx1"/>
                </a:solidFill>
              </a:rPr>
              <a:t> a “Kneedle” in a </a:t>
            </a:r>
            <a:r>
              <a:rPr lang="nb-NO" sz="1400" err="1">
                <a:solidFill>
                  <a:schemeClr val="tx1"/>
                </a:solidFill>
              </a:rPr>
              <a:t>Haystack</a:t>
            </a:r>
            <a:r>
              <a:rPr lang="nb-NO" sz="1400">
                <a:solidFill>
                  <a:schemeClr val="tx1"/>
                </a:solidFill>
              </a:rPr>
              <a:t>: </a:t>
            </a:r>
            <a:r>
              <a:rPr lang="nb-NO" sz="1400" err="1">
                <a:solidFill>
                  <a:schemeClr val="tx1"/>
                </a:solidFill>
              </a:rPr>
              <a:t>Detecting</a:t>
            </a:r>
            <a:r>
              <a:rPr lang="nb-NO" sz="1400">
                <a:solidFill>
                  <a:schemeClr val="tx1"/>
                </a:solidFill>
              </a:rPr>
              <a:t> </a:t>
            </a:r>
            <a:r>
              <a:rPr lang="nb-NO" sz="1400" err="1">
                <a:solidFill>
                  <a:schemeClr val="tx1"/>
                </a:solidFill>
              </a:rPr>
              <a:t>Knee</a:t>
            </a:r>
            <a:r>
              <a:rPr lang="nb-NO" sz="1400">
                <a:solidFill>
                  <a:schemeClr val="tx1"/>
                </a:solidFill>
              </a:rPr>
              <a:t> Points in System </a:t>
            </a:r>
            <a:r>
              <a:rPr lang="nb-NO" sz="1400" err="1">
                <a:solidFill>
                  <a:schemeClr val="tx1"/>
                </a:solidFill>
              </a:rPr>
              <a:t>Behavior</a:t>
            </a:r>
            <a:r>
              <a:rPr lang="nb-NO" sz="1400">
                <a:solidFill>
                  <a:schemeClr val="tx1"/>
                </a:solidFill>
              </a:rPr>
              <a:t>. 31st International Conference </a:t>
            </a:r>
            <a:r>
              <a:rPr lang="nb-NO" sz="1400" err="1">
                <a:solidFill>
                  <a:schemeClr val="tx1"/>
                </a:solidFill>
              </a:rPr>
              <a:t>on</a:t>
            </a:r>
            <a:r>
              <a:rPr lang="nb-NO" sz="1400">
                <a:solidFill>
                  <a:schemeClr val="tx1"/>
                </a:solidFill>
              </a:rPr>
              <a:t> Distributed Computing Systems Workshops, 166–171. https://doi.org/10.1109/ICDCSW.2011.20</a:t>
            </a:r>
          </a:p>
          <a:p>
            <a:endParaRPr lang="nb-NO" sz="1400">
              <a:solidFill>
                <a:schemeClr val="tx1"/>
              </a:solidFill>
            </a:endParaRPr>
          </a:p>
          <a:p>
            <a:r>
              <a:rPr lang="nb-NO" sz="1400" err="1">
                <a:solidFill>
                  <a:schemeClr val="tx1"/>
                </a:solidFill>
              </a:rPr>
              <a:t>Kneed</a:t>
            </a:r>
            <a:r>
              <a:rPr lang="nb-NO" sz="1400">
                <a:solidFill>
                  <a:schemeClr val="tx1"/>
                </a:solidFill>
              </a:rPr>
              <a:t> </a:t>
            </a:r>
            <a:r>
              <a:rPr lang="nb-NO" sz="1400" err="1">
                <a:solidFill>
                  <a:schemeClr val="tx1"/>
                </a:solidFill>
              </a:rPr>
              <a:t>developers</a:t>
            </a:r>
            <a:r>
              <a:rPr lang="nb-NO" sz="1400">
                <a:solidFill>
                  <a:schemeClr val="tx1"/>
                </a:solidFill>
              </a:rPr>
              <a:t>. (2026). </a:t>
            </a:r>
            <a:r>
              <a:rPr lang="nb-NO" sz="1400" err="1">
                <a:solidFill>
                  <a:schemeClr val="tx1"/>
                </a:solidFill>
              </a:rPr>
              <a:t>kneed</a:t>
            </a:r>
            <a:r>
              <a:rPr lang="nb-NO" sz="1400">
                <a:solidFill>
                  <a:schemeClr val="tx1"/>
                </a:solidFill>
              </a:rPr>
              <a:t> — </a:t>
            </a:r>
            <a:r>
              <a:rPr lang="nb-NO" sz="1400" err="1">
                <a:solidFill>
                  <a:schemeClr val="tx1"/>
                </a:solidFill>
              </a:rPr>
              <a:t>Knee-point</a:t>
            </a:r>
            <a:r>
              <a:rPr lang="nb-NO" sz="1400">
                <a:solidFill>
                  <a:schemeClr val="tx1"/>
                </a:solidFill>
              </a:rPr>
              <a:t> </a:t>
            </a:r>
            <a:r>
              <a:rPr lang="nb-NO" sz="1400" err="1">
                <a:solidFill>
                  <a:schemeClr val="tx1"/>
                </a:solidFill>
              </a:rPr>
              <a:t>detection</a:t>
            </a:r>
            <a:r>
              <a:rPr lang="nb-NO" sz="1400">
                <a:solidFill>
                  <a:schemeClr val="tx1"/>
                </a:solidFill>
              </a:rPr>
              <a:t> in Python. https://kneed.readthedocs.io/</a:t>
            </a:r>
          </a:p>
          <a:p>
            <a:endParaRPr lang="nb-NO" sz="1400">
              <a:solidFill>
                <a:schemeClr val="tx1"/>
              </a:solidFill>
            </a:endParaRPr>
          </a:p>
          <a:p>
            <a:r>
              <a:rPr lang="nb-NO" sz="1400" err="1">
                <a:solidFill>
                  <a:schemeClr val="tx1"/>
                </a:solidFill>
              </a:rPr>
              <a:t>Scikit-learn</a:t>
            </a:r>
            <a:r>
              <a:rPr lang="nb-NO" sz="1400">
                <a:solidFill>
                  <a:schemeClr val="tx1"/>
                </a:solidFill>
              </a:rPr>
              <a:t> </a:t>
            </a:r>
            <a:r>
              <a:rPr lang="nb-NO" sz="1400" err="1">
                <a:solidFill>
                  <a:schemeClr val="tx1"/>
                </a:solidFill>
              </a:rPr>
              <a:t>developers</a:t>
            </a:r>
            <a:r>
              <a:rPr lang="nb-NO" sz="1400">
                <a:solidFill>
                  <a:schemeClr val="tx1"/>
                </a:solidFill>
              </a:rPr>
              <a:t>. (2026). </a:t>
            </a:r>
            <a:r>
              <a:rPr lang="nb-NO" sz="1400" err="1">
                <a:solidFill>
                  <a:schemeClr val="tx1"/>
                </a:solidFill>
              </a:rPr>
              <a:t>KNeighborsClassifier</a:t>
            </a:r>
            <a:r>
              <a:rPr lang="nb-NO" sz="1400">
                <a:solidFill>
                  <a:schemeClr val="tx1"/>
                </a:solidFill>
              </a:rPr>
              <a:t> — </a:t>
            </a:r>
            <a:r>
              <a:rPr lang="nb-NO" sz="1400" err="1">
                <a:solidFill>
                  <a:schemeClr val="tx1"/>
                </a:solidFill>
              </a:rPr>
              <a:t>scikit-learn</a:t>
            </a:r>
            <a:r>
              <a:rPr lang="nb-NO" sz="1400">
                <a:solidFill>
                  <a:schemeClr val="tx1"/>
                </a:solidFill>
              </a:rPr>
              <a:t> </a:t>
            </a:r>
            <a:r>
              <a:rPr lang="nb-NO" sz="1400" err="1">
                <a:solidFill>
                  <a:schemeClr val="tx1"/>
                </a:solidFill>
              </a:rPr>
              <a:t>documentation</a:t>
            </a:r>
            <a:r>
              <a:rPr lang="nb-NO" sz="1400">
                <a:solidFill>
                  <a:schemeClr val="tx1"/>
                </a:solidFill>
              </a:rPr>
              <a:t>. https://scikit-learn.org/stable/modules/generated/sklearn.neighbors.KNeighborsClassifier.html</a:t>
            </a:r>
            <a:endParaRPr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379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8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revision>2</cp:revision>
  <dcterms:created xsi:type="dcterms:W3CDTF">2013-01-27T09:14:16Z</dcterms:created>
  <dcterms:modified xsi:type="dcterms:W3CDTF">2026-09-20T18:52:08Z</dcterms:modified>
  <cp:category/>
</cp:coreProperties>
</file>