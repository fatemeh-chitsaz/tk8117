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01" r:id="rId4"/>
    <p:sldId id="297" r:id="rId5"/>
    <p:sldId id="259" r:id="rId6"/>
    <p:sldId id="261" r:id="rId7"/>
    <p:sldId id="262" r:id="rId8"/>
    <p:sldId id="298" r:id="rId9"/>
    <p:sldId id="264" r:id="rId10"/>
    <p:sldId id="278" r:id="rId11"/>
    <p:sldId id="279" r:id="rId12"/>
    <p:sldId id="280" r:id="rId13"/>
    <p:sldId id="268" r:id="rId14"/>
    <p:sldId id="281" r:id="rId15"/>
    <p:sldId id="282" r:id="rId16"/>
    <p:sldId id="283" r:id="rId17"/>
    <p:sldId id="284" r:id="rId18"/>
    <p:sldId id="285" r:id="rId19"/>
    <p:sldId id="286" r:id="rId20"/>
    <p:sldId id="265" r:id="rId21"/>
    <p:sldId id="302" r:id="rId22"/>
    <p:sldId id="303" r:id="rId23"/>
    <p:sldId id="304" r:id="rId24"/>
    <p:sldId id="305" r:id="rId25"/>
    <p:sldId id="306" r:id="rId26"/>
    <p:sldId id="307" r:id="rId27"/>
    <p:sldId id="270" r:id="rId28"/>
    <p:sldId id="299" r:id="rId29"/>
    <p:sldId id="272" r:id="rId30"/>
    <p:sldId id="300" r:id="rId31"/>
    <p:sldId id="274" r:id="rId32"/>
    <p:sldId id="275" r:id="rId33"/>
    <p:sldId id="277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" dt="2026-09-29T07:45:04.436"/>
    <p1510:client id="{32025B93-9AB4-5806-E145-EC18E63DDFCC}" v="116" dt="2026-09-28T21:11:08.944"/>
    <p1510:client id="{73ED405B-50BF-420E-B90D-E487A9858128}" v="13" dt="2026-09-29T10:30:24.757"/>
    <p1510:client id="{82CBC1EE-34D3-00AB-B87E-984140CBA5F5}" v="171" dt="2026-09-29T08:33:09.824"/>
    <p1510:client id="{8D5C716E-4D3E-009F-5D2E-185A37EDA6B4}" v="5" dt="2026-09-29T10:11:11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542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EEFC4-0864-8968-B675-A0C09DAD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F0F49-B59C-7660-7D0F-E8B79DCC5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7274D-6095-A5DC-63C6-DF823F2EA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7106B-ED11-D156-66C8-285ECE6E0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80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D3F0-1C0E-8B14-E8E1-AEE28594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B4C6A-B5B1-7026-57C7-180BF5F3F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EEB78-16D5-FE21-69E1-4147117DE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3A3CA-CE55-44CE-08EE-7D027A1750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80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6329-10A1-B730-C72A-9776A503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FFAFA-EC34-EC4E-2490-CE805DF41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28E27-7270-5807-27D5-4D8AB3B3A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2F85B-3A37-6AC2-7FD5-D609F5A93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13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CD61-07A2-3FF1-28ED-F064085F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2048B-2CF8-E0B3-4BF7-7F8DEE364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9A8B6-E8E9-D39F-E23A-846B1F70F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933E6-D53C-5D71-53DD-1D632D9FB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44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E7ED1-1E9D-26B6-650F-372B25D1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CAC98-14D6-33C8-FDBE-70A58B449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B3EE0-D644-7B37-83DD-30BD9DEA6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31DC0-535D-3629-E101-66D460AA59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663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F42DA-0D4F-B9C5-F7E7-B2A91C981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0B5AB-F32E-8078-9653-32D9B0ACC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B5C4F-F298-9208-629D-3F084AA27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C6BFA-2A20-6BB6-6C0D-131DA06FC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66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F257-E783-E64B-F2E8-CFF40ED2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560B9-5A88-910A-DC1C-B92C21DBE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245A5-B332-8193-3847-6D9C8CB55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4F74-0150-FBEF-7756-9BCA5AEA1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89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6B37-C217-9EDB-3962-4F9BFEF7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2975D-07D6-FC69-CAF5-D37376B94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3527C-DA33-A1D6-3778-FE9A6FCE3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D379C-01F8-8F08-75EC-4403A2403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58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D3E3-042A-4041-84B2-10421E02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E89B6-6395-1595-27C8-3D9CCACD8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78BB9-76F3-20D2-9310-2F21937AD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B43CD-8DFA-3575-11CF-A5F610799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112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D781-E95D-04BC-EA5D-0913B759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9286F5-0297-A3F0-C43C-F3C0D5BBD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B97EF-352F-F7A8-A0CC-9C776AC3D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01DF2-CA67-4557-59AA-7BF53B21D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070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CB61F-D178-47E2-0C21-BE7DD0F6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398B1-1FB8-57FA-CFB3-7CD26B44B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8E450-2A77-286B-572D-3FCDC6E2E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3DE35-B4B1-0C8C-033B-748B344C7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652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82320" y="4983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1BAF7A"/>
                </a:solidFill>
                <a:latin typeface="Calibri"/>
                <a:ea typeface="Calibri"/>
                <a:cs typeface="Calibri"/>
              </a:rPr>
              <a:t>TK8117 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Hyperparameter Tuning</a:t>
            </a:r>
            <a:endParaRPr lang="en-US" sz="4200">
              <a:latin typeface="Cambria"/>
              <a:ea typeface="Cambria"/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Cross-Validation</a:t>
            </a:r>
            <a:endParaRPr lang="en-US" sz="420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>
                <a:solidFill>
                  <a:srgbClr val="C3C2B7"/>
                </a:solidFill>
                <a:ea typeface="+mn-lt"/>
                <a:cs typeface="+mn-lt"/>
              </a:rPr>
              <a:t>Fatemeh Chitsaz</a:t>
            </a:r>
          </a:p>
          <a:p>
            <a:pPr>
              <a:lnSpc>
                <a:spcPts val="2200"/>
              </a:lnSpc>
            </a:pPr>
            <a:r>
              <a:rPr lang="en-US">
                <a:solidFill>
                  <a:srgbClr val="C3C2B7"/>
                </a:solidFill>
                <a:ea typeface="+mn-lt"/>
                <a:cs typeface="+mn-lt"/>
              </a:rPr>
              <a:t>Mateus Machado Pedrosa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898781"/>
                </a:solidFill>
                <a:latin typeface="Calibri"/>
                <a:ea typeface="Calibri"/>
                <a:cs typeface="Calibri"/>
              </a:rPr>
              <a:t>29 September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832104" y="1792224"/>
            <a:ext cx="182880" cy="182880"/>
          </a:xfrm>
          <a:prstGeom prst="ellipse">
            <a:avLst/>
          </a:prstGeom>
          <a:solidFill>
            <a:srgbClr val="8987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463040" y="15819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tuning problem</a:t>
            </a:r>
            <a:endParaRPr lang="en-US" sz="1800"/>
          </a:p>
        </p:txBody>
      </p:sp>
      <p:sp>
        <p:nvSpPr>
          <p:cNvPr id="7" name="Text 5"/>
          <p:cNvSpPr txBox="1"/>
          <p:nvPr/>
        </p:nvSpPr>
        <p:spPr>
          <a:xfrm>
            <a:off x="1463040" y="19293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vs. hyperparameters, and what tuning can gain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566928" cy="566928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6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36"/>
          </a:p>
        </p:txBody>
      </p:sp>
      <p:sp>
        <p:nvSpPr>
          <p:cNvPr id="10" name="Text 8"/>
          <p:cNvSpPr txBox="1"/>
          <p:nvPr/>
        </p:nvSpPr>
        <p:spPr>
          <a:xfrm>
            <a:off x="1463040" y="2697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strategy: how you spend your budget</a:t>
            </a:r>
            <a:endParaRPr lang="en-US" sz="1800"/>
          </a:p>
        </p:txBody>
      </p:sp>
      <p:sp>
        <p:nvSpPr>
          <p:cNvPr id="11" name="Text 9"/>
          <p:cNvSpPr txBox="1"/>
          <p:nvPr/>
        </p:nvSpPr>
        <p:spPr>
          <a:xfrm>
            <a:off x="1463040" y="304495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random search, Bayesian optimization, successive halving / Hyperband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6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36"/>
          </a:p>
        </p:txBody>
      </p:sp>
      <p:sp>
        <p:nvSpPr>
          <p:cNvPr id="14" name="Text 12"/>
          <p:cNvSpPr txBox="1"/>
          <p:nvPr/>
        </p:nvSpPr>
        <p:spPr>
          <a:xfrm>
            <a:off x="1463040" y="3813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how you keep it honest</a:t>
            </a:r>
            <a:endParaRPr lang="en-US" sz="1800"/>
          </a:p>
        </p:txBody>
      </p:sp>
      <p:sp>
        <p:nvSpPr>
          <p:cNvPr id="15" name="Text 13"/>
          <p:cNvSpPr txBox="1"/>
          <p:nvPr/>
        </p:nvSpPr>
        <p:spPr>
          <a:xfrm>
            <a:off x="1463040" y="41605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CV, overtuning, and reshuffled splits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832104" y="5138928"/>
            <a:ext cx="182880" cy="182880"/>
          </a:xfrm>
          <a:prstGeom prst="ellipse">
            <a:avLst/>
          </a:prstGeom>
          <a:solidFill>
            <a:srgbClr val="8987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463040" y="492861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800"/>
          </a:p>
        </p:txBody>
      </p:sp>
      <p:sp>
        <p:nvSpPr>
          <p:cNvPr id="19" name="Text 17"/>
          <p:cNvSpPr txBox="1"/>
          <p:nvPr/>
        </p:nvSpPr>
        <p:spPr>
          <a:xfrm>
            <a:off x="1463040" y="527608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strategy, when? And three take-home messages</a:t>
            </a:r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481C7-47BC-7EA2-4732-519C0337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EF6889-0ABB-93F5-4807-C853457E93DC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</a:rPr>
              <a:t>Hyperparameter tuning: Defining the problem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ED5E05-C568-941A-A797-B893AF017A33}"/>
              </a:ext>
            </a:extLst>
          </p:cNvPr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2A78D6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1417BF-F9D1-87A7-DF19-41DF734C514C}"/>
              </a:ext>
            </a:extLst>
          </p:cNvPr>
          <p:cNvSpPr txBox="1"/>
          <p:nvPr/>
        </p:nvSpPr>
        <p:spPr>
          <a:xfrm>
            <a:off x="559083" y="1600200"/>
            <a:ext cx="65769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b="1">
                <a:solidFill>
                  <a:srgbClr val="0B0B0B"/>
                </a:solidFill>
                <a:ea typeface="Calibri"/>
                <a:cs typeface="Calibri"/>
              </a:rPr>
              <a:t>Parameters 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are learned from the data during fitting (coefficients, loadings, weights)</a:t>
            </a:r>
          </a:p>
          <a:p>
            <a:pPr marL="228600" indent="-22860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b="1">
                <a:solidFill>
                  <a:srgbClr val="0B0B0B"/>
                </a:solidFill>
                <a:ea typeface="+mn-lt"/>
                <a:cs typeface="+mn-lt"/>
              </a:rPr>
              <a:t>Hyperparameters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 are set </a:t>
            </a:r>
            <a:r>
              <a:rPr lang="en-US" i="1">
                <a:solidFill>
                  <a:srgbClr val="0B0B0B"/>
                </a:solidFill>
                <a:ea typeface="+mn-lt"/>
                <a:cs typeface="+mn-lt"/>
              </a:rPr>
              <a:t>before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 fitting (number of components, learning rate, tree depth, regularization)</a:t>
            </a:r>
          </a:p>
          <a:p>
            <a:pPr marL="228600" indent="-22860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They control model complexity, so they strongly affect performance</a:t>
            </a:r>
          </a:p>
          <a:p>
            <a:pPr marL="228600" indent="-22860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b="1">
                <a:solidFill>
                  <a:srgbClr val="0B0B0B"/>
                </a:solidFill>
                <a:ea typeface="+mn-lt"/>
                <a:cs typeface="+mn-lt"/>
              </a:rPr>
              <a:t>Task: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 choose the hyperparameters that give the best performance </a:t>
            </a:r>
            <a:r>
              <a:rPr lang="en-US" b="1">
                <a:solidFill>
                  <a:srgbClr val="0B0B0B"/>
                </a:solidFill>
                <a:ea typeface="+mn-lt"/>
                <a:cs typeface="+mn-lt"/>
              </a:rPr>
              <a:t>on new data</a:t>
            </a:r>
            <a:endParaRPr lang="en-US">
              <a:solidFill>
                <a:srgbClr val="0B0B0B"/>
              </a:solidFill>
              <a:ea typeface="+mn-lt"/>
              <a:cs typeface="+mn-lt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F2E078-1CBC-3070-43BE-BD21EAAAD0BB}"/>
              </a:ext>
            </a:extLst>
          </p:cNvPr>
          <p:cNvSpPr/>
          <p:nvPr/>
        </p:nvSpPr>
        <p:spPr>
          <a:xfrm>
            <a:off x="7269480" y="1600200"/>
            <a:ext cx="4367954" cy="2403687"/>
          </a:xfrm>
          <a:prstGeom prst="roundRect">
            <a:avLst>
              <a:gd name="adj" fmla="val 2198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E24D7D-B786-935D-1F46-4D7429BC38B3}"/>
              </a:ext>
            </a:extLst>
          </p:cNvPr>
          <p:cNvSpPr txBox="1"/>
          <p:nvPr/>
        </p:nvSpPr>
        <p:spPr>
          <a:xfrm>
            <a:off x="7543800" y="1810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0B0B0B"/>
                </a:solidFill>
                <a:latin typeface="Cambria"/>
                <a:ea typeface="Cambria"/>
              </a:rPr>
              <a:t>Why it's hard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15833A-79ED-E5D7-76DA-7EB4101010A3}"/>
              </a:ext>
            </a:extLst>
          </p:cNvPr>
          <p:cNvSpPr txBox="1"/>
          <p:nvPr/>
        </p:nvSpPr>
        <p:spPr>
          <a:xfrm>
            <a:off x="7543800" y="2286000"/>
            <a:ext cx="3970585" cy="3160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No formula for the best values: we can only try and compare</a:t>
            </a:r>
          </a:p>
          <a:p>
            <a:pPr marL="228600" indent="-2286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Each try means fitting and evaluating a model, which is costly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BEEB4A9-F19F-0C96-D3EF-C1BE44DE1FC5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8440DD-C9E6-4E02-BB04-EDB4A213CF29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62689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D8F2C-C8FE-39C1-CDC8-28938BD0B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673BA3-8FC1-3C3C-850B-FC952B6FDCC8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</a:rPr>
              <a:t>Example: </a:t>
            </a:r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+mn-lt"/>
              </a:rPr>
              <a:t>Tuning the UCI ML Wine dataset from scikit-learn</a:t>
            </a:r>
            <a:endParaRPr lang="en-US" sz="3000">
              <a:solidFill>
                <a:srgbClr val="0B0B0B"/>
              </a:solidFill>
              <a:ea typeface="+mn-lt"/>
              <a:cs typeface="+mn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DD4F56-7CB3-7824-3C9E-C2E1B4B83737}"/>
              </a:ext>
            </a:extLst>
          </p:cNvPr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D4C9A271-E506-8FEB-13E0-4570C2EE0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145050"/>
              </p:ext>
            </p:extLst>
          </p:nvPr>
        </p:nvGraphicFramePr>
        <p:xfrm>
          <a:off x="3151063" y="2871626"/>
          <a:ext cx="6143296" cy="2767584"/>
        </p:xfrm>
        <a:graphic>
          <a:graphicData uri="http://schemas.openxmlformats.org/drawingml/2006/table">
            <a:tbl>
              <a:tblPr/>
              <a:tblGrid>
                <a:gridCol w="2080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– 0.5 (log)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size per boosting round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6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of each tree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smoothing / regularization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1.0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subsampling 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– 1.0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subsampling per split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E0F326E5-0279-23A8-CF3E-4E9C404FFB59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DBAF7F9-4509-CF0F-E01F-9DA937EF2116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92DBF29-0534-5B69-0065-2729E6F78A0B}"/>
              </a:ext>
            </a:extLst>
          </p:cNvPr>
          <p:cNvSpPr/>
          <p:nvPr/>
        </p:nvSpPr>
        <p:spPr>
          <a:xfrm>
            <a:off x="505582" y="1182357"/>
            <a:ext cx="10881360" cy="1233389"/>
          </a:xfrm>
          <a:prstGeom prst="roundRect">
            <a:avLst>
              <a:gd name="adj" fmla="val 571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BB26AB37-358F-BE08-381C-7714D1D4FCC4}"/>
              </a:ext>
            </a:extLst>
          </p:cNvPr>
          <p:cNvSpPr/>
          <p:nvPr/>
        </p:nvSpPr>
        <p:spPr>
          <a:xfrm>
            <a:off x="734182" y="1374381"/>
            <a:ext cx="438912" cy="438912"/>
          </a:xfrm>
          <a:prstGeom prst="ellipse">
            <a:avLst/>
          </a:prstGeom>
          <a:solidFill>
            <a:srgbClr val="4A3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1F47A653-3B8F-4F8A-8642-3C405FC94A97}"/>
              </a:ext>
            </a:extLst>
          </p:cNvPr>
          <p:cNvSpPr txBox="1"/>
          <p:nvPr/>
        </p:nvSpPr>
        <p:spPr>
          <a:xfrm>
            <a:off x="734182" y="137438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44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1A5D4485-E3C8-71C7-3E43-0D89CB144DEC}"/>
              </a:ext>
            </a:extLst>
          </p:cNvPr>
          <p:cNvSpPr txBox="1"/>
          <p:nvPr/>
        </p:nvSpPr>
        <p:spPr>
          <a:xfrm>
            <a:off x="1374262" y="1319517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145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3844C6EF-D7C8-1FFC-9EAF-31FADCC7199C}"/>
              </a:ext>
            </a:extLst>
          </p:cNvPr>
          <p:cNvSpPr txBox="1"/>
          <p:nvPr/>
        </p:nvSpPr>
        <p:spPr>
          <a:xfrm>
            <a:off x="1374262" y="1470393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wine dataset</a:t>
            </a:r>
            <a:endParaRPr lang="en-US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8410BD7A-C690-622E-2216-BA2FE528233C}"/>
              </a:ext>
            </a:extLst>
          </p:cNvPr>
          <p:cNvSpPr txBox="1"/>
          <p:nvPr/>
        </p:nvSpPr>
        <p:spPr>
          <a:xfrm>
            <a:off x="779902" y="198702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 </a:t>
            </a:r>
            <a:r>
              <a:rPr lang="en-US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BFDB620E-DA25-ACBF-443A-D06DC88E6AD6}"/>
              </a:ext>
            </a:extLst>
          </p:cNvPr>
          <p:cNvSpPr txBox="1"/>
          <p:nvPr/>
        </p:nvSpPr>
        <p:spPr>
          <a:xfrm>
            <a:off x="4026022" y="198702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r>
              <a:rPr lang="en-US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features</a:t>
            </a:r>
            <a:endParaRPr lang="en-US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6B86157-38C0-EB60-2010-A6B9C07790FF}"/>
              </a:ext>
            </a:extLst>
          </p:cNvPr>
          <p:cNvSpPr txBox="1"/>
          <p:nvPr/>
        </p:nvSpPr>
        <p:spPr>
          <a:xfrm>
            <a:off x="7272142" y="198702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cultivars (classes)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43E51-CD54-F09C-CA8A-1C701A3B8F7B}"/>
              </a:ext>
            </a:extLst>
          </p:cNvPr>
          <p:cNvSpPr txBox="1"/>
          <p:nvPr/>
        </p:nvSpPr>
        <p:spPr>
          <a:xfrm>
            <a:off x="549837" y="6001677"/>
            <a:ext cx="61451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Source: https://archive.ics.uci.edu/dataset/109/wine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4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>
                <a:solidFill>
                  <a:srgbClr val="26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strategy: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spend your budget</a:t>
            </a:r>
            <a:endParaRPr lang="en-US" sz="340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classic baselines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3136392"/>
          </a:xfrm>
          <a:prstGeom prst="roundRect">
            <a:avLst>
              <a:gd name="adj" fmla="val 217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4A3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</a:t>
            </a:r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68680" y="2240280"/>
            <a:ext cx="4800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Evaluate every combination on a fixed lattice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Cost grows as (levels)^(dimensions) 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3 levels to the power of 5 hyperparameters is already 243 runs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Wastes evaluations on unimportant dimensions: varying a dimension that barely matters still multiplies the grid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3136392"/>
          </a:xfrm>
          <a:prstGeom prst="roundRect">
            <a:avLst>
              <a:gd name="adj" fmla="val 217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92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708660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search</a:t>
            </a:r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6492240" y="2240280"/>
            <a:ext cx="4837590" cy="4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configurations independently at random, for a fixed budget of trials</a:t>
            </a:r>
            <a:endParaRPr lang="en-US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better coverage per trial than grid in high dimensions (Bergstra &amp; Bengio, 2012)</a:t>
            </a:r>
            <a:endParaRPr lang="en-US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memoryless: trial 200 ignores everything trials 1–199 already learned</a:t>
            </a:r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strategy actually looks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— WINE DATASET, GRADIENT BOOSTING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548639" y="5149850"/>
            <a:ext cx="11185855" cy="1186942"/>
          </a:xfrm>
          <a:prstGeom prst="roundRect">
            <a:avLst>
              <a:gd name="adj" fmla="val 10256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5149850"/>
            <a:ext cx="82296" cy="1186942"/>
          </a:xfrm>
          <a:prstGeom prst="roundRect">
            <a:avLst/>
          </a:prstGeom>
          <a:solidFill>
            <a:srgbClr val="4A3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61694" y="5531899"/>
            <a:ext cx="108511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Same trial budget (243 each) </a:t>
            </a:r>
          </a:p>
          <a:p>
            <a:r>
              <a:rPr lang="en-US" i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grid's fixed lattice repeats itself: projected onto 2 of 5 dimensions, its 243 trials fall on only 9 distinct points</a:t>
            </a:r>
          </a:p>
          <a:p>
            <a:r>
              <a:rPr lang="en-US" i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 while random's continuously-sampled values almost never coincide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AA3E7B88-F9BC-E78D-5B5D-46D0FE5D6B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0780" y="1076939"/>
            <a:ext cx="9780270" cy="4009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F86FB-7C75-F044-466D-A8FD4E62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20CBB7-ED8E-16AB-35A1-837FFAA4D962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optimization: search with memory</a:t>
            </a:r>
            <a:endParaRPr lang="en-US" sz="3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047068-6A69-2A29-2CAC-ACF23A1665E2}"/>
              </a:ext>
            </a:extLst>
          </p:cNvPr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</a:t>
            </a:r>
            <a:endParaRPr lang="en-US" sz="1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37912F-2B04-D508-B0CC-40C97FFF0B1A}"/>
              </a:ext>
            </a:extLst>
          </p:cNvPr>
          <p:cNvSpPr txBox="1"/>
          <p:nvPr/>
        </p:nvSpPr>
        <p:spPr>
          <a:xfrm>
            <a:off x="623952" y="1600200"/>
            <a:ext cx="7222574" cy="369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CV is expensive: learn a cheap model of "CV score vs. configuration" and use it to decide where to try next.</a:t>
            </a:r>
            <a:endParaRPr lang="en-US">
              <a:ea typeface="+mn-lt"/>
              <a:cs typeface="+mn-lt"/>
            </a:endParaRPr>
          </a:p>
          <a:p>
            <a:pPr lvl="1">
              <a:buSzPct val="100000"/>
            </a:pP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1. Fit a cheap </a:t>
            </a:r>
            <a:r>
              <a:rPr lang="en-US" b="1">
                <a:solidFill>
                  <a:srgbClr val="0B0B0B"/>
                </a:solidFill>
                <a:ea typeface="+mn-lt"/>
                <a:cs typeface="+mn-lt"/>
              </a:rPr>
              <a:t>surrogate model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 to all (configuration, CV score) pairs so far</a:t>
            </a:r>
          </a:p>
          <a:p>
            <a:pPr lvl="1"/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2. Choose the next configuration by balancing: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2">
              <a:buFont typeface="Wingdings"/>
              <a:buChar char="§"/>
            </a:pPr>
            <a:r>
              <a:rPr lang="en-US" b="1">
                <a:solidFill>
                  <a:srgbClr val="0B0B0B"/>
                </a:solidFill>
                <a:ea typeface="+mn-lt"/>
                <a:cs typeface="+mn-lt"/>
              </a:rPr>
              <a:t>exploration: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 where the surrogate is most uncertain</a:t>
            </a:r>
          </a:p>
          <a:p>
            <a:pPr lvl="2">
              <a:buFont typeface="Wingdings"/>
              <a:buChar char="§"/>
            </a:pPr>
            <a:r>
              <a:rPr lang="en-US" b="1">
                <a:solidFill>
                  <a:srgbClr val="0B0B0B"/>
                </a:solidFill>
                <a:ea typeface="+mn-lt"/>
                <a:cs typeface="+mn-lt"/>
              </a:rPr>
              <a:t>exploitation: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 where the surrogate predicts a good score</a:t>
            </a:r>
          </a:p>
          <a:p>
            <a:pPr lvl="2">
              <a:buFont typeface="Wingdings"/>
              <a:buChar char="§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3. Run real CV on it, add the result, and repeat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solidFill>
                <a:srgbClr val="0B0B0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B0B0B"/>
                </a:solidFill>
                <a:ea typeface="+mn-lt"/>
                <a:cs typeface="+mn-lt"/>
              </a:rPr>
              <a:t>Result: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 a good configuration with far fewer CV runs than grid or random search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28600" indent="-228600">
              <a:spcAft>
                <a:spcPts val="1200"/>
              </a:spcAft>
              <a:buSzPct val="100000"/>
              <a:buFont typeface="Arial"/>
              <a:buChar char="•"/>
            </a:pPr>
            <a:endParaRPr lang="en-US">
              <a:solidFill>
                <a:srgbClr val="0B0B0B"/>
              </a:solidFill>
              <a:ea typeface="+mn-lt"/>
              <a:cs typeface="+mn-lt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1862E8C-7473-F3FE-3ED8-42054017DF23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DFBA2D-3A76-5DA7-1F50-8258003BC57B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56A633-C373-56A8-2C68-7E7E5B80C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574" y="1045282"/>
            <a:ext cx="4259426" cy="436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1 OF 11</a:t>
            </a:r>
            <a:endParaRPr lang="en-US" sz="1200"/>
          </a:p>
        </p:txBody>
      </p:sp>
      <p:pic>
        <p:nvPicPr>
          <p:cNvPr id="4" name="Image 0" descr="/tmp/hpo_deck/assets/anim/bo_frames/frame_0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2 OF 11</a:t>
            </a:r>
            <a:endParaRPr lang="en-US" sz="1200"/>
          </a:p>
        </p:txBody>
      </p:sp>
      <p:pic>
        <p:nvPicPr>
          <p:cNvPr id="4" name="Image 0" descr="/tmp/hpo_deck/assets/anim/bo_frames/frame_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3 OF 11</a:t>
            </a:r>
            <a:endParaRPr lang="en-US" sz="1200"/>
          </a:p>
        </p:txBody>
      </p:sp>
      <p:pic>
        <p:nvPicPr>
          <p:cNvPr id="4" name="Image 0" descr="/tmp/hpo_deck/assets/anim/bo_frames/frame_0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4 OF 11</a:t>
            </a:r>
            <a:endParaRPr lang="en-US" sz="1200"/>
          </a:p>
        </p:txBody>
      </p:sp>
      <p:pic>
        <p:nvPicPr>
          <p:cNvPr id="4" name="Image 0" descr="/tmp/hpo_deck/assets/anim/bo_frames/frame_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5 OF 11</a:t>
            </a:r>
            <a:endParaRPr lang="en-US" sz="1200"/>
          </a:p>
        </p:txBody>
      </p:sp>
      <p:pic>
        <p:nvPicPr>
          <p:cNvPr id="4" name="Image 0" descr="/tmp/hpo_deck/assets/anim/bo_frames/frame_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6 OF 11</a:t>
            </a:r>
            <a:endParaRPr lang="en-US" sz="1200"/>
          </a:p>
        </p:txBody>
      </p:sp>
      <p:pic>
        <p:nvPicPr>
          <p:cNvPr id="4" name="Image 0" descr="/tmp/hpo_deck/assets/anim/bo_frames/frame_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7 OF 11</a:t>
            </a:r>
            <a:endParaRPr lang="en-US" sz="1200"/>
          </a:p>
        </p:txBody>
      </p:sp>
      <p:pic>
        <p:nvPicPr>
          <p:cNvPr id="4" name="Image 0" descr="/tmp/hpo_deck/assets/anim/bo_frames/frame_0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8 OF 11</a:t>
            </a:r>
            <a:endParaRPr lang="en-US" sz="1200"/>
          </a:p>
        </p:txBody>
      </p:sp>
      <p:pic>
        <p:nvPicPr>
          <p:cNvPr id="4" name="Image 0" descr="/tmp/hpo_deck/assets/anim/bo_frames/frame_0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9 OF 11</a:t>
            </a:r>
            <a:endParaRPr lang="en-US" sz="1200"/>
          </a:p>
        </p:txBody>
      </p:sp>
      <p:pic>
        <p:nvPicPr>
          <p:cNvPr id="4" name="Image 0" descr="/tmp/hpo_deck/assets/anim/bo_frames/frame_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10 OF 11</a:t>
            </a:r>
            <a:endParaRPr lang="en-US" sz="1200"/>
          </a:p>
        </p:txBody>
      </p:sp>
      <p:pic>
        <p:nvPicPr>
          <p:cNvPr id="4" name="Image 0" descr="/tmp/hpo_deck/assets/anim/bo_frames/frame_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optimization, iteration by iteration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ADVANCE → STEP 11 OF 11</a:t>
            </a:r>
            <a:endParaRPr lang="en-US" sz="1200"/>
          </a:p>
        </p:txBody>
      </p:sp>
      <p:pic>
        <p:nvPicPr>
          <p:cNvPr id="4" name="Image 0" descr="/tmp/hpo_deck/assets/anim/bo_frames/frame_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640" y="1097280"/>
            <a:ext cx="877824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1D surface — the real search space has 5 dimensions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Multi-fidelity search: stop bad configs early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4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586962" y="1363462"/>
            <a:ext cx="685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Key idea:</a:t>
            </a: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 most bad configurations already look bad after a small budget (few boosting rounds, few epochs)</a:t>
            </a: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endParaRPr lang="en-US">
              <a:solidFill>
                <a:srgbClr val="0B0B0B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Successive Halving: </a:t>
            </a: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train many configs at a small budget, keep the top 1/η, promote them to a bigger budget, repeat.</a:t>
            </a: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endParaRPr lang="en-US">
              <a:solidFill>
                <a:srgbClr val="0B0B0B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Hyperband: </a:t>
            </a: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runs several such brackets with different starting budgets, so it hedges against picking a bad budget schedule.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12380" y="1362456"/>
            <a:ext cx="4160520" cy="2559839"/>
          </a:xfrm>
          <a:prstGeom prst="roundRect">
            <a:avLst>
              <a:gd name="adj" fmla="val 2222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88670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run (η = 3)</a:t>
            </a:r>
            <a:endParaRPr lang="en-US" sz="24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30552"/>
              </p:ext>
            </p:extLst>
          </p:nvPr>
        </p:nvGraphicFramePr>
        <p:xfrm>
          <a:off x="7886700" y="2002536"/>
          <a:ext cx="3657600" cy="15361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Rung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rounds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rounds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rounds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8F44-A1ED-B799-CE55-869AF2DC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6DEAE8-C049-E75C-1041-4867B34AF64A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Successive halving on the wine dataset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1D0AD6B-50D5-277D-57EA-154B9147F69E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uses the actual 5-fold CV scores from the wine-dataset run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FB8A54-658B-8925-F752-15794992F396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4DE08-157B-5DF1-ED2D-199F63396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10" y="1284829"/>
            <a:ext cx="8944779" cy="511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96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E0D95-0A26-21C1-8721-5284FC2F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9D108F-FA4D-F1EE-7467-A9078E6D3D9A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Successive halving on the wine dataset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56C5AE4-462E-FE09-E48D-D12474C65400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uses the actual 5-fold CV scores from the wine-dataset run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411113B-F787-9E07-04FE-8A006B6BE9E2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6C539C-CFFE-B275-62A6-FA91DF5B9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10" y="1284829"/>
            <a:ext cx="8944779" cy="5111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9E6824-7AB0-B35E-4CC1-B317C8C4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610" y="1284829"/>
            <a:ext cx="8944778" cy="511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51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DE3E7-2F40-BB72-3352-9A46CF79A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E9F6FC-5687-A903-176B-61D5FD5EA19F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Successive halving on the wine dataset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488EEEC-ECB1-E3A2-89DF-685627397E7A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uses the actual 5-fold CV scores from the wine-dataset run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737F90-DCD2-C84B-7106-00B8F576642A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814B06-4039-8B90-AA7E-8F2147F25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10" y="1284829"/>
            <a:ext cx="8944779" cy="5111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EC6172-E1BA-D1AB-0A00-9DF746A75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610" y="1284829"/>
            <a:ext cx="8944778" cy="51113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B8809C-9FE1-8748-EDCB-3843C80C0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609" y="1284829"/>
            <a:ext cx="8944778" cy="511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45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A59A-95B5-0358-18B4-A5EBE222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15681E-BAE0-F730-A02A-35D9A83FFDA6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Successive halving on the wine dataset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30EB94D-2766-B1DB-29E2-F17A857CE63D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uses the actual 5-fold CV scores from the wine-dataset run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6DF7206-1365-BA6C-1523-6C790FD2DEDD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E62D10-A827-F2B3-702B-3D7F88E13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10" y="1284829"/>
            <a:ext cx="8944779" cy="5111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2372AC-337D-EE91-35EC-5A4588E03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610" y="1284829"/>
            <a:ext cx="8944778" cy="51113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727274-0CA2-E951-9CB7-1CA2A2C33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609" y="1284829"/>
            <a:ext cx="8944778" cy="5111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FA9889-5ACC-26A7-5556-B346C64C02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608" y="1284828"/>
            <a:ext cx="8944776" cy="511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62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20AED-8FF3-02F1-396D-9C70DE0B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B08544-7630-71FB-850E-085C8B258B60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Successive halving on the wine dataset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42FDB7A-898A-1EFF-5085-B37C74BA1F5E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uses the actual 5-fold CV scores from the wine-dataset run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A920B1D-DD8E-9C67-5BB8-14AE428220F6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6C525-80D6-5817-A3A2-115F3A682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10" y="1284829"/>
            <a:ext cx="8944779" cy="5111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FEAF8F-6780-A1C0-D4DF-E62CEA77C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610" y="1284829"/>
            <a:ext cx="8944778" cy="51113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3306CD-1501-3496-16F6-499865612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609" y="1284829"/>
            <a:ext cx="8944778" cy="5111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3D3608-5191-FE41-D263-468F1CD6B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608" y="1284828"/>
            <a:ext cx="8944776" cy="5111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707C9-0678-4E9F-B92A-A5D5890D2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603" y="1284826"/>
            <a:ext cx="8944774" cy="51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23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ACCC-A069-1F53-8821-39F1E9BF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4EA6C3-A4D7-A7FD-35BF-AD147F1FB455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Successive halving on the wine dataset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77BB975-3C24-712C-C5CA-9FE0D9968579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uses the actual 5-fold CV scores from the wine-dataset run</a:t>
            </a:r>
            <a:endParaRPr lang="en-US" sz="9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5A06D99-147B-86B9-63F2-FA45AF6DB9C9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9AC303-5DB5-0E88-B93E-FD697F6D1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311" y="1203541"/>
            <a:ext cx="6567334" cy="3749860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1D0175D9-683D-5706-71E0-3008BCC03736}"/>
              </a:ext>
            </a:extLst>
          </p:cNvPr>
          <p:cNvSpPr/>
          <p:nvPr/>
        </p:nvSpPr>
        <p:spPr>
          <a:xfrm>
            <a:off x="382525" y="5499232"/>
            <a:ext cx="11091672" cy="980175"/>
          </a:xfrm>
          <a:prstGeom prst="roundRect">
            <a:avLst>
              <a:gd name="adj" fmla="val 10256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CFB57926-3A9D-6DE8-3F11-A693DCCD0B5D}"/>
              </a:ext>
            </a:extLst>
          </p:cNvPr>
          <p:cNvSpPr/>
          <p:nvPr/>
        </p:nvSpPr>
        <p:spPr>
          <a:xfrm>
            <a:off x="413748" y="5500267"/>
            <a:ext cx="82296" cy="936038"/>
          </a:xfrm>
          <a:prstGeom prst="roundRect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1F4F5E8A-C99C-C81B-B924-E0EBD61DF1A7}"/>
              </a:ext>
            </a:extLst>
          </p:cNvPr>
          <p:cNvSpPr txBox="1"/>
          <p:nvPr/>
        </p:nvSpPr>
        <p:spPr>
          <a:xfrm>
            <a:off x="697212" y="550133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2A78D6"/>
                </a:solidFill>
                <a:latin typeface="Calibri"/>
                <a:ea typeface="Calibri"/>
                <a:cs typeface="Calibri"/>
              </a:rPr>
              <a:t>TAKE-HOME #1</a:t>
            </a:r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865DBB4-DCE0-FFA6-895D-F2938F9ACB58}"/>
              </a:ext>
            </a:extLst>
          </p:cNvPr>
          <p:cNvSpPr txBox="1"/>
          <p:nvPr/>
        </p:nvSpPr>
        <p:spPr>
          <a:xfrm>
            <a:off x="697212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3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0109B6-2E58-9DC9-C5DB-4A98AEB125FA}"/>
              </a:ext>
            </a:extLst>
          </p:cNvPr>
          <p:cNvSpPr txBox="1"/>
          <p:nvPr/>
        </p:nvSpPr>
        <p:spPr>
          <a:xfrm>
            <a:off x="629420" y="5724144"/>
            <a:ext cx="10982259" cy="6177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600">
                <a:ea typeface="Calibri"/>
                <a:cs typeface="Calibri"/>
              </a:rPr>
              <a:t>Grid and random search spend most of their budget on configurations that don't help. Budget-aware strategies (search with memory, or stopping bad configurations early) find a comparable configuration for a fraction of the compute.</a:t>
            </a:r>
          </a:p>
        </p:txBody>
      </p:sp>
    </p:spTree>
    <p:extLst>
      <p:ext uri="{BB962C8B-B14F-4D97-AF65-F5344CB8AC3E}">
        <p14:creationId xmlns:p14="http://schemas.microsoft.com/office/powerpoint/2010/main" val="4003358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>
                <a:solidFill>
                  <a:srgbClr val="26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keep it honest</a:t>
            </a:r>
            <a:endParaRPr lang="en-US" sz="340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0BA37-FC23-F631-C29C-17F2149C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49B5BA-2B7F-377A-E4A3-C78F7437C8A8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The trap: reusing folds to tune AND to report performance</a:t>
            </a:r>
            <a:endParaRPr lang="en-US" sz="3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B39233-12AE-FB4D-6D41-1133C7E951C8}"/>
              </a:ext>
            </a:extLst>
          </p:cNvPr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CAWLEY &amp; TALBOT, JMLR 2010</a:t>
            </a:r>
            <a:endParaRPr lang="en-US" sz="12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3A75CD0-4185-6F26-B0E2-29D5CE72BBA1}"/>
              </a:ext>
            </a:extLst>
          </p:cNvPr>
          <p:cNvSpPr txBox="1"/>
          <p:nvPr/>
        </p:nvSpPr>
        <p:spPr>
          <a:xfrm>
            <a:off x="6263640" y="1417320"/>
            <a:ext cx="5493737" cy="383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If you pick the hyperparameters that maximize a CV score, and then report that same score as “model performance”, you've let the winner's curse in.</a:t>
            </a:r>
          </a:p>
          <a:p>
            <a:pPr marL="228600" indent="-2286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The best of many noisy scores is optimistically biased</a:t>
            </a:r>
            <a:endParaRPr lang="en-US">
              <a:solidFill>
                <a:srgbClr val="0B0B0B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Nested CV separates the two jobs: an inner loop tunes, an outer loop evaluates the tuned model</a:t>
            </a:r>
            <a:endParaRPr lang="en-US">
              <a:solidFill>
                <a:srgbClr val="0B0B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BBD9DF4-20F8-9AEA-2515-B97C0745B801}"/>
              </a:ext>
            </a:extLst>
          </p:cNvPr>
          <p:cNvSpPr txBox="1"/>
          <p:nvPr/>
        </p:nvSpPr>
        <p:spPr>
          <a:xfrm>
            <a:off x="457200" y="6473952"/>
            <a:ext cx="106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setup hardened to make the bias visible — 60 wine samples, 2 real + 150 pure-noise features, 14 configs, 18 repeats</a:t>
            </a:r>
            <a:endParaRPr lang="en-US" sz="9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C4F8C6-58BE-640C-1CBB-52F2B579D86B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C1DB1-7006-CE2C-6CA3-4B3327D77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57" y="1039867"/>
            <a:ext cx="6126283" cy="4531640"/>
          </a:xfrm>
          <a:prstGeom prst="rect">
            <a:avLst/>
          </a:prstGeom>
        </p:spPr>
      </p:pic>
      <p:sp>
        <p:nvSpPr>
          <p:cNvPr id="11" name="Shape 2">
            <a:extLst>
              <a:ext uri="{FF2B5EF4-FFF2-40B4-BE49-F238E27FC236}">
                <a16:creationId xmlns:a16="http://schemas.microsoft.com/office/drawing/2014/main" id="{4C1096C5-9DD7-C8A9-51CF-42FD8288CB9E}"/>
              </a:ext>
            </a:extLst>
          </p:cNvPr>
          <p:cNvSpPr/>
          <p:nvPr/>
        </p:nvSpPr>
        <p:spPr>
          <a:xfrm>
            <a:off x="382525" y="5499232"/>
            <a:ext cx="11091672" cy="980175"/>
          </a:xfrm>
          <a:prstGeom prst="roundRect">
            <a:avLst>
              <a:gd name="adj" fmla="val 10256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8A9566FB-5E16-8354-3044-5146FD351EF5}"/>
              </a:ext>
            </a:extLst>
          </p:cNvPr>
          <p:cNvSpPr/>
          <p:nvPr/>
        </p:nvSpPr>
        <p:spPr>
          <a:xfrm>
            <a:off x="413748" y="5500267"/>
            <a:ext cx="82296" cy="936038"/>
          </a:xfrm>
          <a:prstGeom prst="roundRect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33ADC90-603F-FD8E-F8A1-E7B1FC0B0C77}"/>
              </a:ext>
            </a:extLst>
          </p:cNvPr>
          <p:cNvSpPr txBox="1"/>
          <p:nvPr/>
        </p:nvSpPr>
        <p:spPr>
          <a:xfrm>
            <a:off x="697212" y="550133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#2</a:t>
            </a:r>
            <a:endParaRPr lang="en-US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72F82C42-23B3-1C04-2CCD-6892703E6905}"/>
              </a:ext>
            </a:extLst>
          </p:cNvPr>
          <p:cNvSpPr txBox="1"/>
          <p:nvPr/>
        </p:nvSpPr>
        <p:spPr>
          <a:xfrm>
            <a:off x="697212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3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3A8D8C-3217-8325-8786-ED3B74D05A22}"/>
              </a:ext>
            </a:extLst>
          </p:cNvPr>
          <p:cNvSpPr txBox="1"/>
          <p:nvPr/>
        </p:nvSpPr>
        <p:spPr>
          <a:xfrm>
            <a:off x="629420" y="5724144"/>
            <a:ext cx="1098225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only makes tuning trustworthy if the folds that pick your hyperparameters are kept apart from the folds that report performance.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482188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Tuning itself can overfit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AUTOML-CONF 2025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673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B94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“Overtuning”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68680" y="199796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Schneider, Bischl &amp; Feurer (2025)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Overtuning in Hyperparameter Optimization</a:t>
            </a:r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868680" y="2861564"/>
            <a:ext cx="4734559" cy="2610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Even with nested CV done right, running HPO for too long can start to overfit the validation estimate itself.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err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Overtuning</a:t>
            </a: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 is more common than assumed, in ~10% of cases the “best” config found is worse than the default.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b="1">
                <a:solidFill>
                  <a:srgbClr val="B94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in the small-data regime</a:t>
            </a:r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263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The validation error you optimize is a noisy, finite-sample estimate of generalization error</a:t>
            </a: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Optimizing it harder doesn't just find better configs: it starts fitting the noise in that estimate.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track a held-out curve during tuning, and don't assume “more trials = strictly better” without checking.</a:t>
            </a:r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05B18-1B45-4008-A89D-3D444BB1B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40F237-A383-D01C-0129-D8D02E5C695C}"/>
              </a:ext>
            </a:extLst>
          </p:cNvPr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/>
                <a:ea typeface="Cambria"/>
                <a:cs typeface="Cambria" pitchFamily="34" charset="-120"/>
              </a:rPr>
              <a:t>Even your fold assignment is a choice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2A007F-D276-703B-CEAF-9FAAB913B9D7}"/>
              </a:ext>
            </a:extLst>
          </p:cNvPr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NEURIPS 2024</a:t>
            </a:r>
            <a:endParaRPr lang="en-US" sz="12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E2FDC1E-6C2E-02EF-C9A1-4C1017C0D972}"/>
              </a:ext>
            </a:extLst>
          </p:cNvPr>
          <p:cNvSpPr txBox="1"/>
          <p:nvPr/>
        </p:nvSpPr>
        <p:spPr>
          <a:xfrm>
            <a:off x="6098258" y="1040836"/>
            <a:ext cx="5518009" cy="3838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i="1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Nagler et al. (2024), Reshuffling Resampling Splits Can Improve Generalization of Hyperparameter Optimization</a:t>
            </a:r>
          </a:p>
          <a:p>
            <a:pPr marL="228600" indent="-22860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Usual advice: fix the split (holdout or CV folds) once and reuse them for every configuration</a:t>
            </a:r>
            <a:endParaRPr lang="en-US">
              <a:ea typeface="+mn-lt"/>
              <a:cs typeface="+mn-lt"/>
            </a:endParaRPr>
          </a:p>
          <a:p>
            <a:pPr marL="228600" indent="-2286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Finding: a </a:t>
            </a:r>
            <a:r>
              <a:rPr lang="en-US" b="1">
                <a:solidFill>
                  <a:srgbClr val="0B0B0B"/>
                </a:solidFill>
                <a:ea typeface="+mn-lt"/>
                <a:cs typeface="+mn-lt"/>
              </a:rPr>
              <a:t>new split for every trial</a:t>
            </a:r>
            <a:r>
              <a:rPr lang="en-US">
                <a:solidFill>
                  <a:srgbClr val="0B0B0B"/>
                </a:solidFill>
                <a:ea typeface="+mn-lt"/>
                <a:cs typeface="+mn-lt"/>
              </a:rPr>
              <a:t> often generalizes better, because the optimizer can't overfit to one split</a:t>
            </a:r>
            <a:endParaRPr lang="en-US">
              <a:ea typeface="+mn-lt"/>
              <a:cs typeface="+mn-lt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b="1">
                <a:solidFill>
                  <a:srgbClr val="12795A"/>
                </a:solidFill>
                <a:latin typeface="Calibri"/>
                <a:ea typeface="Calibri"/>
                <a:cs typeface="Calibri"/>
              </a:rPr>
              <a:t>Effect is strongest for holdout, where reshuffling can make holdout competitive with k-fold  CV.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BA5BE9C-1B70-7E54-D699-0AA8FDA758D1}"/>
              </a:ext>
            </a:extLst>
          </p:cNvPr>
          <p:cNvSpPr txBox="1"/>
          <p:nvPr/>
        </p:nvSpPr>
        <p:spPr>
          <a:xfrm>
            <a:off x="457200" y="6473952"/>
            <a:ext cx="106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our run on wine (30 repeats, 40 configs, holdout) — illustrative; difference not significant (Wilcoxon p = 0.39)</a:t>
            </a:r>
            <a:endParaRPr lang="en-US" sz="9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4ED60C4-D854-AA79-EE07-E4D01211BA7B}"/>
              </a:ext>
            </a:extLst>
          </p:cNvPr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/>
          </a:p>
        </p:txBody>
      </p:sp>
      <p:pic>
        <p:nvPicPr>
          <p:cNvPr id="12" name="Image 0">
            <a:extLst>
              <a:ext uri="{FF2B5EF4-FFF2-40B4-BE49-F238E27FC236}">
                <a16:creationId xmlns:a16="http://schemas.microsoft.com/office/drawing/2014/main" id="{B4FFD041-D91C-0E29-4CA6-9D752E34F8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599" y="1032379"/>
            <a:ext cx="5626447" cy="4911221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C0FB2488-B8C1-3465-4C63-F5A0D5B64187}"/>
              </a:ext>
            </a:extLst>
          </p:cNvPr>
          <p:cNvSpPr/>
          <p:nvPr/>
        </p:nvSpPr>
        <p:spPr>
          <a:xfrm>
            <a:off x="6186640" y="4892399"/>
            <a:ext cx="5431320" cy="1052669"/>
          </a:xfrm>
          <a:prstGeom prst="roundRect">
            <a:avLst>
              <a:gd name="adj" fmla="val 10256"/>
            </a:avLst>
          </a:prstGeom>
          <a:solidFill>
            <a:srgbClr val="F1F0EC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a-I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7485630-CE59-ED7C-33C0-A2331A23F852}"/>
              </a:ext>
            </a:extLst>
          </p:cNvPr>
          <p:cNvSpPr/>
          <p:nvPr/>
        </p:nvSpPr>
        <p:spPr>
          <a:xfrm>
            <a:off x="6184074" y="4902559"/>
            <a:ext cx="110210" cy="1047051"/>
          </a:xfrm>
          <a:prstGeom prst="roundRect">
            <a:avLst/>
          </a:prstGeom>
          <a:solidFill>
            <a:srgbClr val="2A78D6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a-IR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B0047D7-EEAF-76E5-6D76-765342648451}"/>
              </a:ext>
            </a:extLst>
          </p:cNvPr>
          <p:cNvSpPr txBox="1"/>
          <p:nvPr/>
        </p:nvSpPr>
        <p:spPr>
          <a:xfrm>
            <a:off x="6477896" y="50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#3</a:t>
            </a:r>
            <a:endParaRPr lang="en-US"/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F192AE5E-A656-D6F6-FD09-B73082AA4EE9}"/>
              </a:ext>
            </a:extLst>
          </p:cNvPr>
          <p:cNvSpPr txBox="1"/>
          <p:nvPr/>
        </p:nvSpPr>
        <p:spPr>
          <a:xfrm>
            <a:off x="6304444" y="5397163"/>
            <a:ext cx="51371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sz="1600" err="1">
                <a:ea typeface="+mn-lt"/>
                <a:cs typeface="+mn-lt"/>
              </a:rPr>
              <a:t>Hyperparameter</a:t>
            </a:r>
            <a:r>
              <a:rPr lang="fa-IR" sz="1600">
                <a:ea typeface="+mn-lt"/>
                <a:cs typeface="+mn-lt"/>
              </a:rPr>
              <a:t> </a:t>
            </a:r>
            <a:r>
              <a:rPr lang="fa-IR" sz="1600" err="1">
                <a:ea typeface="+mn-lt"/>
                <a:cs typeface="+mn-lt"/>
              </a:rPr>
              <a:t>tuning</a:t>
            </a:r>
            <a:r>
              <a:rPr lang="fa-IR" sz="1600">
                <a:ea typeface="+mn-lt"/>
                <a:cs typeface="+mn-lt"/>
              </a:rPr>
              <a:t> </a:t>
            </a:r>
            <a:r>
              <a:rPr lang="fa-IR" sz="1600" err="1">
                <a:ea typeface="+mn-lt"/>
                <a:cs typeface="+mn-lt"/>
              </a:rPr>
              <a:t>can</a:t>
            </a:r>
            <a:r>
              <a:rPr lang="fa-IR" sz="1600">
                <a:ea typeface="+mn-lt"/>
                <a:cs typeface="+mn-lt"/>
              </a:rPr>
              <a:t> </a:t>
            </a:r>
            <a:r>
              <a:rPr lang="fa-IR" sz="1600" err="1">
                <a:ea typeface="+mn-lt"/>
                <a:cs typeface="+mn-lt"/>
              </a:rPr>
              <a:t>overfit</a:t>
            </a:r>
            <a:r>
              <a:rPr lang="fa-IR" sz="1600">
                <a:ea typeface="+mn-lt"/>
                <a:cs typeface="+mn-lt"/>
              </a:rPr>
              <a:t> </a:t>
            </a:r>
            <a:r>
              <a:rPr lang="fa-IR" sz="1600" err="1">
                <a:ea typeface="+mn-lt"/>
                <a:cs typeface="+mn-lt"/>
              </a:rPr>
              <a:t>too</a:t>
            </a:r>
            <a:r>
              <a:rPr lang="fa-IR" sz="1600">
                <a:ea typeface="+mn-lt"/>
                <a:cs typeface="+mn-lt"/>
              </a:rPr>
              <a:t>!</a:t>
            </a:r>
            <a:endParaRPr lang="fa-IR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2221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strategy, when?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DECISION GUIDE</a:t>
            </a:r>
            <a:endParaRPr lang="en-US" sz="12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513650"/>
              </p:ext>
            </p:extLst>
          </p:nvPr>
        </p:nvGraphicFramePr>
        <p:xfrm>
          <a:off x="594360" y="1508760"/>
          <a:ext cx="11064240" cy="2980944"/>
        </p:xfrm>
        <a:graphic>
          <a:graphicData uri="http://schemas.openxmlformats.org/drawingml/2006/table">
            <a:tbl>
              <a:tblPr/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hyperparameters (≤3), cheap evaluations, want simplicity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 -&gt; still a strong, honest baseline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evaluations, sequential compute, smooth response surface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optimization (TPE / GP)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natural budget knob exists (epochs, trees, rows, CV folds)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Hyperband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of the above, small or noisy dataset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CV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· Hyperparameter tuning with cross-validation</a:t>
            </a:r>
            <a:endParaRPr lang="en-US" sz="90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take home</a:t>
            </a:r>
            <a:endParaRPr lang="en-US" sz="300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/>
          </a:p>
        </p:txBody>
      </p:sp>
      <p:sp>
        <p:nvSpPr>
          <p:cNvPr id="6" name="Text 4"/>
          <p:cNvSpPr txBox="1"/>
          <p:nvPr/>
        </p:nvSpPr>
        <p:spPr>
          <a:xfrm>
            <a:off x="1417320" y="1392174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>
                <a:solidFill>
                  <a:srgbClr val="E9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and random search spend most of their budget on configurations that don't help. Budget-aware strategies (search with memory, or stopping bad configurations early) find a comparable configuration for a fraction of the compute.</a:t>
            </a:r>
            <a:endParaRPr lang="en-US" sz="155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/>
          </a:p>
        </p:txBody>
      </p:sp>
      <p:sp>
        <p:nvSpPr>
          <p:cNvPr id="9" name="Text 7"/>
          <p:cNvSpPr txBox="1"/>
          <p:nvPr/>
        </p:nvSpPr>
        <p:spPr>
          <a:xfrm>
            <a:off x="1417320" y="2839212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>
                <a:solidFill>
                  <a:srgbClr val="E9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only makes tuning trustworthy if the folds that pick your hyperparameters are kept apart from the folds that report performance.</a:t>
            </a:r>
            <a:endParaRPr lang="en-US" sz="1550"/>
          </a:p>
        </p:txBody>
      </p:sp>
      <p:sp>
        <p:nvSpPr>
          <p:cNvPr id="10" name="Shape 8"/>
          <p:cNvSpPr/>
          <p:nvPr/>
        </p:nvSpPr>
        <p:spPr>
          <a:xfrm>
            <a:off x="640080" y="4654296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/>
          </a:p>
        </p:txBody>
      </p:sp>
      <p:sp>
        <p:nvSpPr>
          <p:cNvPr id="12" name="Text 10"/>
          <p:cNvSpPr txBox="1"/>
          <p:nvPr/>
        </p:nvSpPr>
        <p:spPr>
          <a:xfrm>
            <a:off x="1363531" y="4335526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a-IR" sz="1600" err="1">
                <a:solidFill>
                  <a:schemeClr val="bg1"/>
                </a:solidFill>
                <a:ea typeface="+mn-lt"/>
                <a:cs typeface="+mn-lt"/>
              </a:rPr>
              <a:t>Hyperparameter</a:t>
            </a:r>
            <a:r>
              <a:rPr lang="fa-IR" sz="16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fa-IR" sz="1600" err="1">
                <a:solidFill>
                  <a:schemeClr val="bg1"/>
                </a:solidFill>
                <a:ea typeface="+mn-lt"/>
                <a:cs typeface="+mn-lt"/>
              </a:rPr>
              <a:t>tuning</a:t>
            </a:r>
            <a:r>
              <a:rPr lang="fa-IR" sz="16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fa-IR" sz="1600" err="1">
                <a:solidFill>
                  <a:schemeClr val="bg1"/>
                </a:solidFill>
                <a:ea typeface="+mn-lt"/>
                <a:cs typeface="+mn-lt"/>
              </a:rPr>
              <a:t>can</a:t>
            </a:r>
            <a:r>
              <a:rPr lang="fa-IR" sz="16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fa-IR" sz="1600" err="1">
                <a:solidFill>
                  <a:schemeClr val="bg1"/>
                </a:solidFill>
                <a:ea typeface="+mn-lt"/>
                <a:cs typeface="+mn-lt"/>
              </a:rPr>
              <a:t>overfit</a:t>
            </a:r>
            <a:r>
              <a:rPr lang="fa-IR" sz="16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fa-IR" sz="1600" err="1">
                <a:solidFill>
                  <a:schemeClr val="bg1"/>
                </a:solidFill>
                <a:ea typeface="+mn-lt"/>
                <a:cs typeface="+mn-lt"/>
              </a:rPr>
              <a:t>too</a:t>
            </a:r>
            <a:r>
              <a:rPr lang="fa-IR" sz="1600">
                <a:solidFill>
                  <a:schemeClr val="bg1"/>
                </a:solidFill>
                <a:ea typeface="+mn-lt"/>
                <a:cs typeface="+mn-lt"/>
              </a:rPr>
              <a:t>! 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— Hyperparameter tuning with cross-validation</a:t>
            </a:r>
            <a:endParaRPr lang="en-US" sz="90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TK8117 — Hyperparameter tuning with cross-validation</a:t>
            </a:r>
            <a:endParaRPr lang="en-US" sz="90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9a10672-822f-4467-a5ba-5bb375967c05}" enabled="0" method="" siteId="{09a10672-822f-4467-a5ba-5bb375967c0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33</Slides>
  <Notes>33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2026-09-27T10:33:12Z</dcterms:created>
  <dcterms:modified xsi:type="dcterms:W3CDTF">2026-10-05T12:08:14Z</dcterms:modified>
</cp:coreProperties>
</file>